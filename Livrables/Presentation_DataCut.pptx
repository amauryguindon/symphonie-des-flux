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Bonjour à toutes et à tous. Je m'appelle Amaury Guindon et je vais vous présenter mon projet fil rouge de Master 1 Intelligence Artificielle : DataCut, « Symphonie des données en flux continu ». L'idée de ce projet est de construire une plateforme qui gère le cycle de vie complet des données, depuis l'ingestion d'images jusqu'à l'entraînement d'un modèle d'IA. Je vais vous présenter l'architecture, le pipeline de données, la partie machine learning, puis une démonstration de recommandation client. Comptez une quinzaine de minutes, et je garderai du temps pour vos questions à la fin.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30] Le contexte du projet est celui d'un barbershop haut de gamme, fictif, qui souhaite exploiter ses photos de réalisations. Concrètement, il dispose de nombreuses images de coupes qu'il faut labéliser : on parle de styles comme le fade, l'afro, la tresse, le dégradé, ou encore la barbe. La problématique centrale est la suivante : comment collecter, labéliser et versionner toutes ces images, tout en garantissant une traçabilité complète des données jusqu'au modèle d'intelligence artificielle ?</a:t>
            </a:r>
          </a:p>
          <a:p>
            <a:r>
              <a:t>C'est tout l'enjeu d'un pipeline de données bien structuré. On ne peut pas simplement jeter des images dans un dossier et lancer un entraînement : il faut savoir d'où vient chaque donnée, à quel stade elle se trouve, et avec quelle version du dataset le modèle a été entraîné. Tout au long de cette présentation, je vais suivre cette chaîne logique que vous voyez en bas de l'écran : ingestion, puis labélisation, puis versioning, puis entraînement, et enfin la recommandation côté client. Chaque étape de cette symphonie a son rôle, et c'est leur enchaînement maîtrisé qui fait la valeur du projet.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30] Voici la vue d'ensemble de l'architecture. Elle est organisée en couches bien distinctes. Tout en haut, le frontend en Angular 17, qui propose deux interfaces : une interface d'administration pour gérer les données, et une interface client pour la recommandation. Le frontend dialogue avec le backend NestJS via une API REST, sur le port 3001, avec des Guards JWT pour la sécurité et Multer pour la réception des fichiers.</a:t>
            </a:r>
          </a:p>
          <a:p>
            <a:r>
              <a:t>Un point important de conception : le stockage est hybride. Les fichiers images, qui sont lourds, sont écrits directement sur le disque, dans le dossier uploads. En revanche, toutes les métadonnées — le statut, les labels, les caractéristiques — sont stockées dans MongoDB. Cette séparation est volontaire et je reviendrai dessus, car elle nous permettra plus tard de migrer vers le cloud sans rien casser.</a:t>
            </a:r>
          </a:p>
          <a:p>
            <a:r>
              <a:t>Enfin, tout en bas, la partie Python avec scikit-learn : c'est le script train.py qui consomme le dataset exporté et produit le modèle, le fichier model.pkl. À noter qu'il y a deux usages de l'IA dans ce projet : un machine learning « offline » côté serveur pour l'entraînement, et un machine learning « in-browser », dans le navigateur, pour la recommandation client avec MediaPipe.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Rapidement sur la stack technique et surtout sur les raisons de ces choix. Angular 17 en mode standalone avec les signals pour une interface réactive et moderne. NestJS côté backend, pour son architecture modulaire qui sépare proprement les responsabilités. MongoDB pour la base de données : sa flexibilité de schéma est idéale pour des métadonnées hétérogènes, et ses agrégations natives sont parfaites pour calculer les statistiques de labels.</a:t>
            </a:r>
          </a:p>
          <a:p>
            <a:r>
              <a:t>Pour l'extraction de caractéristiques, j'utilise sharp, une bibliothèque Node.js très légère. Côté machine learning, scikit-learn avec un RandomForest, qui est une valeur sûre pour un dataset de taille limitée. MediaPipe pour la détection de visage dans le navigateur. Et enfin, l'authentification combine du JWT classique avec une connexion Google via OAuth2. Chaque brique a été choisie pour une raison précise, pas par effet de mode.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30] Passons au schéma de la base de données. Il y a trois collections principales. La première, GalleryItem, représente chaque image : on y trouve son nom de fichier, son URL sur le disque, son statut dans le pipeline, ses labels, et surtout ses features, c'est-à-dire les caractéristiques numériques extraites automatiquement. La deuxième collection, DatasetVersion, représente un snapshot versionné : elle contient un numéro de version, le nombre d'images, la liste des identifiants d'images incluses et les labels concernés. Enfin, la collection User gère les comptes, avec le rôle client ou admin et la connexion Google.</a:t>
            </a:r>
          </a:p>
          <a:p>
            <a:r>
              <a:t>La relation clé est celle que vous voyez au centre : le champ datasetVersion d'une image pointe vers la version d'un dataset. C'est une relation volontairement légère, typique d'une base documentaire. Pourquoi légère ? Parce que les snapshots sont immuables : une fois qu'une version est créée, elle ne change plus jamais. Il n'y a donc pas besoin de contraintes d'intégrité fortes comme dans une base relationnelle classique. Et je rappelle le principe hybride : les fichiers sont sur le disque, les métadonnées dans Mongo.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30] Le cœur du projet, c'est ce pipeline de données en cinq statuts. Une image traverse ces étapes dans un seul sens, du début à la fin. Première étape, RAW : l'image vient d'être uploadée. NestJS et Multer la sauvegardent, et sharp en extrait automatiquement les caractéristiques. À ce stade, rien d'humain n'est intervenu sur le contenu. Deuxième étape, VALIDATED : un administrateur vérifie visuellement la qualité — le cadrage, la netteté, la pertinence de l'image.</a:t>
            </a:r>
          </a:p>
          <a:p>
            <a:r>
              <a:t>Troisième étape, LABELED : c'est l'étape de labélisation manuelle, où l'admin assigne de un à plusieurs labels parmi les douze disponibles. Quatrième étape, PROCESSED : validation finale, l'image est jugée complète et prête. Et enfin EXPORTED : l'image est intégrée dans un snapshot versionné.</a:t>
            </a:r>
          </a:p>
          <a:p>
            <a:r>
              <a:t>Le point essentiel ici, c'est que les transitions sont unidirectionnelles : on ne revient jamais en arrière. Cela garantit la traçabilité. Et seules les images suffisamment avancées dans le pipeline sont éligibles à un dataset. Un funnel visuel permet à l'administrateur de voir, en un coup d'œil, combien d'images sont à chaque étape et où se trouvent les goulots d'étranglement.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Revenons sur l'extraction de features, car c'est ce qui alimente le modèle. À chaque upload, de manière totalement automatique et transparente pour l'administrateur, sharp calcule un vecteur de sept caractéristiques numériques. Vous les voyez à l'écran : la largeur et la hauteur en pixels, la taille du fichier, le ratio largeur sur hauteur, et les trois composantes rouge, vert, bleu de la couleur dominante de l'image.</a:t>
            </a:r>
          </a:p>
          <a:p>
            <a:r>
              <a:t>Ce vecteur de dimension sept est immédiatement stocké dans MongoDB, aux côtés de l'image. L'avantage est double : d'une part, le calcul est fait une seule fois, à l'upload ; d'autre part, ce vecteur est directement réutilisable par le script Python d'entraînement, sans aucun retraitement. La donnée est prête à servir au modèle dès qu'elle entre dans le système.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30] Le versioning des datasets est une exigence forte du projet, et c'est un concept clé en machine learning. Le principe : un snapshot immuable. À un instant donné, l'administrateur clique sur « Créer une version ». Le backend identifie automatiquement toutes les images éligibles, c'est-à-dire celles qui sont labélisées, traitées ou déjà exportées. Il crée alors un document DatasetVersion qui fige la liste exacte des images et des labels. Enfin, ces images reçoivent le tag de la version.</a:t>
            </a:r>
          </a:p>
          <a:p>
            <a:r>
              <a:t>Pourquoi est-ce si important ? Parce que cela garantit la reproductibilité. Si je relance l'entraînement sur la version 1 dans six mois, j'obtiendrai exactement le même modèle, car les données n'auront pas bougé d'un pixel. C'est fondamental pour pouvoir auditer un modèle, comparer deux versions, ou comprendre une régression de performance. Les versions sont numérotées, horodatées, et conservées dans l'historique. Cette contrainte du sujet — le versioning immuable — est donc pleinement respectée.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30] Venons-en à l'entraînement du modèle, dans le script train.py. La chaîne, que vous voyez à gauche, est la suivante : on charge le dataset JSON, on reconstruit le vecteur de features pour chaque image, on transforme les labels avec un MultiLabelBinarizer, on découpe en jeu d'entraînement et jeu de test selon un ratio 80/20, on entraîne le modèle, on évalue, et on sauvegarde dans model.pkl.</a:t>
            </a:r>
          </a:p>
          <a:p>
            <a:r>
              <a:t>Le choix d'algorithme est important. C'est un problème multi-label : une même image peut porter plusieurs étiquettes en même temps, par exemple fade, plus barbe, plus adulte. J'utilise donc une stratégie OneVsRest par-dessus un RandomForest : concrètement, on entraîne un classifieur indépendant par label, ce qui permet de prédire plusieurs labels simultanément. Côté paramètres, cent arbres dans la forêt, un split 80/20, et un random_state fixé à 42 pour garantir la reproductibilité. Le lancement est très simple : une seule commande, py train.py, suivie du fichier dataset, et le modèle est produit.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Parlons des résultats et, en toute honnêteté, des limites. Le graphique à gauche montre la distribution réelle des labels sur le dataset version 1. On voit immédiatement un déséquilibre : certains labels comme « après » ou « adulte » sont très présents, tandis que d'autres comme « enfant » ou « rasage » n'apparaissent qu'une fois. C'est un indicateur clé de la qualité d'un dataset.</a:t>
            </a:r>
          </a:p>
          <a:p>
            <a:r>
              <a:t>Le modèle génère des métriques classiques : l'accuracy, ainsi que la precision, le recall et le F1-score par label. Mais il faut être lucide : ce dataset est un prototype de neuf images seulement. Les performances chiffrées sont donc forcément limitées, ce n'est pas le but à ce stade. Le point fort, c'est que l'architecture est entièrement scalable : pour améliorer le modèle, il suffit d'ajouter des données et de créer une nouvelle version, sans modifier une seule ligne de code. Plus de données, c'est mécaniquement un meilleur modèle.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30] Voici maintenant la partie côté client, la page « Ma Coupe Idéale ». C'est une fonctionnalité bonus, mais qui illustre bien un second usage de l'IA. Le client prend une photo, ou en charge une. MediaPipe, qui tourne entièrement dans le navigateur, détecte 468 points de repère sur le visage. À partir de ces points, on calcule la forme du visage et la teinte de peau, puis on propose des styles adaptés et on filtre la galerie en conséquence.</a:t>
            </a:r>
          </a:p>
          <a:p>
            <a:r>
              <a:t>Concrètement, pour la forme : un visage ovale est polyvalent, un visage rond ira bien avec un fade ou un taper, un visage carré avec un burst-fade, et ainsi de suite. Pour la teinte de peau, qui donne une indication sur la texture de cheveux, on adapte aussi les suggestions. Le point que je veux vraiment souligner ici, c'est que tout ce traitement se fait localement, dans le navigateur, en WebAssembly. Aucune image, aucune donnée biométrique du visage n'est envoyée à un serveur. C'est une démarche de respect de la vie privée dès la conception, ce qu'on appelle le privacy by design, et c'est essentiel quand on manipule des données aussi sensibles qu'un visage.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Avant de conclure, un mot sur les bonnes pratiques et la gouvernance des données, car c'est ce qui distingue un projet jouet d'un projet sérieux. Premièrement, la séparation fichiers et métadonnées, dont j'ai parlé : elle rend possible une migration vers le cloud, S3 ou un CDN, sans toucher à la base. Deuxièmement, le versioning immuable, qui assure reproductibilité et auditabilité.</a:t>
            </a:r>
          </a:p>
          <a:p>
            <a:r>
              <a:t>Troisièmement, la sécurité : authentification par JWT, connexion Google en OAuth2, gestion des rôles client et admin, et des Guards NestJS sur toutes les routes sensibles. Et quatrièmement, la protection des données personnelles avec MediaPipe en local, dans une logique RGPD. Ces quatre piliers garantissent que la plateforme est non seulement fonctionnelle, mais aussi maintenable, sûre et conforme.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Pour conclure. Ce projet met en œuvre un cycle de vie complet de la donnée : un pipeline structuré en cinq statuts, une extraction de features automatique, un versioning immuable des datasets, un entraînement ML produisant un modèle réutilisable, une couche de visualisation et de supervision, et même une recommandation client par IA en bonus. Toutes les exigences du sujet sont couvertes.</a:t>
            </a:r>
          </a:p>
          <a:p>
            <a:r>
              <a:t>Les perspectives sont claires : constituer un dataset bien plus volumineux, viser une centaine d'images par label, passer à un stockage cloud, exposer le modèle via une API de prédiction en temps réel, automatiser le réentraînement, et à terme remplacer le RandomForest par un réseau de neurones convolutif. Le message que je veux laisser, c'est que l'architecture est scalable par conception : plus on apporte de données, meilleur sera le modèle, et cela sans avoir à modifier le code. Je vous remercie de votre attention, et je suis à votre disposition pour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2606040"/>
            <a:ext cx="12188952" cy="54864"/>
          </a:xfrm>
          <a:prstGeom prst="rect">
            <a:avLst/>
          </a:prstGeom>
          <a:solidFill>
            <a:srgbClr val="C9A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017520" y="914400"/>
            <a:ext cx="2926080" cy="1280160"/>
          </a:xfrm>
          <a:prstGeom prst="rect">
            <a:avLst/>
          </a:prstGeom>
          <a:noFill/>
        </p:spPr>
        <p:txBody>
          <a:bodyPr wrap="square">
            <a:spAutoFit/>
          </a:bodyPr>
          <a:lstStyle/>
          <a:p>
            <a:pPr algn="r"/>
            <a:r>
              <a:rPr sz="7200" b="1" i="0">
                <a:solidFill>
                  <a:srgbClr val="FFFFFF"/>
                </a:solidFill>
                <a:latin typeface="Calibri"/>
              </a:rPr>
              <a:t>DATA</a:t>
            </a:r>
          </a:p>
        </p:txBody>
      </p:sp>
      <p:sp>
        <p:nvSpPr>
          <p:cNvPr id="4" name="TextBox 3"/>
          <p:cNvSpPr txBox="1"/>
          <p:nvPr/>
        </p:nvSpPr>
        <p:spPr>
          <a:xfrm>
            <a:off x="6035040" y="914400"/>
            <a:ext cx="2926080" cy="1280160"/>
          </a:xfrm>
          <a:prstGeom prst="rect">
            <a:avLst/>
          </a:prstGeom>
          <a:noFill/>
        </p:spPr>
        <p:txBody>
          <a:bodyPr wrap="square">
            <a:spAutoFit/>
          </a:bodyPr>
          <a:lstStyle/>
          <a:p>
            <a:pPr algn="l"/>
            <a:r>
              <a:rPr sz="7200" b="1" i="0">
                <a:solidFill>
                  <a:srgbClr val="C9A44A"/>
                </a:solidFill>
                <a:latin typeface="Calibri"/>
              </a:rPr>
              <a:t>CUT</a:t>
            </a:r>
          </a:p>
        </p:txBody>
      </p:sp>
      <p:sp>
        <p:nvSpPr>
          <p:cNvPr id="5" name="TextBox 4"/>
          <p:cNvSpPr txBox="1"/>
          <p:nvPr/>
        </p:nvSpPr>
        <p:spPr>
          <a:xfrm>
            <a:off x="0" y="2880360"/>
            <a:ext cx="12188952" cy="640080"/>
          </a:xfrm>
          <a:prstGeom prst="rect">
            <a:avLst/>
          </a:prstGeom>
          <a:noFill/>
        </p:spPr>
        <p:txBody>
          <a:bodyPr wrap="square">
            <a:spAutoFit/>
          </a:bodyPr>
          <a:lstStyle/>
          <a:p>
            <a:pPr algn="ctr"/>
            <a:r>
              <a:rPr sz="2000" b="0" i="1">
                <a:solidFill>
                  <a:srgbClr val="AAAAAA"/>
                </a:solidFill>
                <a:latin typeface="Calibri"/>
              </a:rPr>
              <a:t>Symphonie des données en flux continu</a:t>
            </a:r>
          </a:p>
        </p:txBody>
      </p:sp>
      <p:sp>
        <p:nvSpPr>
          <p:cNvPr id="6" name="TextBox 5"/>
          <p:cNvSpPr txBox="1"/>
          <p:nvPr/>
        </p:nvSpPr>
        <p:spPr>
          <a:xfrm>
            <a:off x="0" y="3611880"/>
            <a:ext cx="12188952" cy="457200"/>
          </a:xfrm>
          <a:prstGeom prst="rect">
            <a:avLst/>
          </a:prstGeom>
          <a:noFill/>
        </p:spPr>
        <p:txBody>
          <a:bodyPr wrap="square">
            <a:spAutoFit/>
          </a:bodyPr>
          <a:lstStyle/>
          <a:p>
            <a:pPr algn="ctr"/>
            <a:r>
              <a:rPr sz="1400" b="0" i="0">
                <a:solidFill>
                  <a:srgbClr val="AAAAAA"/>
                </a:solidFill>
                <a:latin typeface="Calibri"/>
              </a:rPr>
              <a:t>Rapport technique — Master 1 IA — École 89</a:t>
            </a:r>
          </a:p>
        </p:txBody>
      </p:sp>
      <p:sp>
        <p:nvSpPr>
          <p:cNvPr id="7" name="TextBox 6"/>
          <p:cNvSpPr txBox="1"/>
          <p:nvPr/>
        </p:nvSpPr>
        <p:spPr>
          <a:xfrm>
            <a:off x="0" y="4160520"/>
            <a:ext cx="12188952" cy="457200"/>
          </a:xfrm>
          <a:prstGeom prst="rect">
            <a:avLst/>
          </a:prstGeom>
          <a:noFill/>
        </p:spPr>
        <p:txBody>
          <a:bodyPr wrap="square">
            <a:spAutoFit/>
          </a:bodyPr>
          <a:lstStyle/>
          <a:p>
            <a:pPr algn="ctr"/>
            <a:r>
              <a:rPr sz="1200" b="0" i="0">
                <a:solidFill>
                  <a:srgbClr val="777777"/>
                </a:solidFill>
                <a:latin typeface="Calibri"/>
              </a:rPr>
              <a:t>Amaury Guindon  ·  Intervenant : Najib AL AWAR  ·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0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640080"/>
          </a:xfrm>
          <a:prstGeom prst="rect">
            <a:avLst/>
          </a:prstGeom>
          <a:noFill/>
        </p:spPr>
        <p:txBody>
          <a:bodyPr wrap="square">
            <a:spAutoFit/>
          </a:bodyPr>
          <a:lstStyle/>
          <a:p>
            <a:pPr algn="l"/>
            <a:r>
              <a:rPr sz="2800" b="1" i="0">
                <a:solidFill>
                  <a:srgbClr val="FFFFFF"/>
                </a:solidFill>
                <a:latin typeface="Calibri"/>
              </a:rPr>
              <a:t>Contexte &amp; Problématique</a:t>
            </a:r>
          </a:p>
        </p:txBody>
      </p:sp>
      <p:sp>
        <p:nvSpPr>
          <p:cNvPr id="4" name="TextBox 3"/>
          <p:cNvSpPr txBox="1"/>
          <p:nvPr/>
        </p:nvSpPr>
        <p:spPr>
          <a:xfrm>
            <a:off x="457200" y="1325880"/>
            <a:ext cx="5303520" cy="365760"/>
          </a:xfrm>
          <a:prstGeom prst="rect">
            <a:avLst/>
          </a:prstGeom>
          <a:noFill/>
        </p:spPr>
        <p:txBody>
          <a:bodyPr wrap="square">
            <a:spAutoFit/>
          </a:bodyPr>
          <a:lstStyle/>
          <a:p>
            <a:pPr algn="l"/>
            <a:r>
              <a:rPr sz="1600" b="1" i="0">
                <a:solidFill>
                  <a:srgbClr val="C9A44A"/>
                </a:solidFill>
                <a:latin typeface="Calibri"/>
              </a:rPr>
              <a:t>Contexte</a:t>
            </a:r>
          </a:p>
        </p:txBody>
      </p:sp>
      <p:sp>
        <p:nvSpPr>
          <p:cNvPr id="5" name="TextBox 4"/>
          <p:cNvSpPr txBox="1"/>
          <p:nvPr/>
        </p:nvSpPr>
        <p:spPr>
          <a:xfrm>
            <a:off x="457200" y="1783080"/>
            <a:ext cx="5303520" cy="502920"/>
          </a:xfrm>
          <a:prstGeom prst="rect">
            <a:avLst/>
          </a:prstGeom>
          <a:noFill/>
        </p:spPr>
        <p:txBody>
          <a:bodyPr wrap="square">
            <a:spAutoFit/>
          </a:bodyPr>
          <a:lstStyle/>
          <a:p>
            <a:pPr algn="l"/>
            <a:r>
              <a:rPr sz="1500" b="0" i="0">
                <a:solidFill>
                  <a:srgbClr val="FFFFFF"/>
                </a:solidFill>
                <a:latin typeface="Calibri"/>
              </a:rPr>
              <a:t>▸  Barbershop fictif exploitant ses photos de coupe</a:t>
            </a:r>
          </a:p>
        </p:txBody>
      </p:sp>
      <p:sp>
        <p:nvSpPr>
          <p:cNvPr id="6" name="TextBox 5"/>
          <p:cNvSpPr txBox="1"/>
          <p:nvPr/>
        </p:nvSpPr>
        <p:spPr>
          <a:xfrm>
            <a:off x="457200" y="2240280"/>
            <a:ext cx="5303520" cy="502920"/>
          </a:xfrm>
          <a:prstGeom prst="rect">
            <a:avLst/>
          </a:prstGeom>
          <a:noFill/>
        </p:spPr>
        <p:txBody>
          <a:bodyPr wrap="square">
            <a:spAutoFit/>
          </a:bodyPr>
          <a:lstStyle/>
          <a:p>
            <a:pPr algn="l"/>
            <a:r>
              <a:rPr sz="1500" b="0" i="0">
                <a:solidFill>
                  <a:srgbClr val="FFFFFF"/>
                </a:solidFill>
                <a:latin typeface="Calibri"/>
              </a:rPr>
              <a:t>▸  Images labélisées : fade, afro, tresse, barbe…</a:t>
            </a:r>
          </a:p>
        </p:txBody>
      </p:sp>
      <p:sp>
        <p:nvSpPr>
          <p:cNvPr id="7" name="TextBox 6"/>
          <p:cNvSpPr txBox="1"/>
          <p:nvPr/>
        </p:nvSpPr>
        <p:spPr>
          <a:xfrm>
            <a:off x="457200" y="2697480"/>
            <a:ext cx="5303520" cy="502920"/>
          </a:xfrm>
          <a:prstGeom prst="rect">
            <a:avLst/>
          </a:prstGeom>
          <a:noFill/>
        </p:spPr>
        <p:txBody>
          <a:bodyPr wrap="square">
            <a:spAutoFit/>
          </a:bodyPr>
          <a:lstStyle/>
          <a:p>
            <a:pPr algn="l"/>
            <a:r>
              <a:rPr sz="1500" b="0" i="0">
                <a:solidFill>
                  <a:srgbClr val="FFFFFF"/>
                </a:solidFill>
                <a:latin typeface="Calibri"/>
              </a:rPr>
              <a:t>▸  Besoin : pipeline structuré alimentant un modèle IA</a:t>
            </a:r>
          </a:p>
        </p:txBody>
      </p:sp>
      <p:sp>
        <p:nvSpPr>
          <p:cNvPr id="8" name="TextBox 7"/>
          <p:cNvSpPr txBox="1"/>
          <p:nvPr/>
        </p:nvSpPr>
        <p:spPr>
          <a:xfrm>
            <a:off x="6400800" y="1325880"/>
            <a:ext cx="5303520" cy="365760"/>
          </a:xfrm>
          <a:prstGeom prst="rect">
            <a:avLst/>
          </a:prstGeom>
          <a:noFill/>
        </p:spPr>
        <p:txBody>
          <a:bodyPr wrap="square">
            <a:spAutoFit/>
          </a:bodyPr>
          <a:lstStyle/>
          <a:p>
            <a:pPr algn="l"/>
            <a:r>
              <a:rPr sz="1600" b="1" i="0">
                <a:solidFill>
                  <a:srgbClr val="C9A44A"/>
                </a:solidFill>
                <a:latin typeface="Calibri"/>
              </a:rPr>
              <a:t>Problématique</a:t>
            </a:r>
          </a:p>
        </p:txBody>
      </p:sp>
      <p:sp>
        <p:nvSpPr>
          <p:cNvPr id="9" name="TextBox 8"/>
          <p:cNvSpPr txBox="1"/>
          <p:nvPr/>
        </p:nvSpPr>
        <p:spPr>
          <a:xfrm>
            <a:off x="6400800" y="1783080"/>
            <a:ext cx="5303520" cy="1371600"/>
          </a:xfrm>
          <a:prstGeom prst="rect">
            <a:avLst/>
          </a:prstGeom>
          <a:noFill/>
        </p:spPr>
        <p:txBody>
          <a:bodyPr wrap="square">
            <a:spAutoFit/>
          </a:bodyPr>
          <a:lstStyle/>
          <a:p>
            <a:pPr algn="l"/>
            <a:r>
              <a:rPr sz="1400" b="0" i="0">
                <a:solidFill>
                  <a:srgbClr val="FFFFFF"/>
                </a:solidFill>
                <a:latin typeface="Calibri"/>
              </a:rPr>
              <a:t>Comment collecter, labéliser et versionner des images tout en garantissant la traçabilité complète vers un modèle d'IA ?</a:t>
            </a:r>
          </a:p>
        </p:txBody>
      </p:sp>
      <p:sp>
        <p:nvSpPr>
          <p:cNvPr id="10" name="Rectangle 9"/>
          <p:cNvSpPr/>
          <p:nvPr/>
        </p:nvSpPr>
        <p:spPr>
          <a:xfrm>
            <a:off x="457200" y="5029200"/>
            <a:ext cx="11247120" cy="54864"/>
          </a:xfrm>
          <a:prstGeom prst="rect">
            <a:avLst/>
          </a:prstGeom>
          <a:solidFill>
            <a:srgbClr val="C9A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5212080"/>
            <a:ext cx="11247120" cy="548640"/>
          </a:xfrm>
          <a:prstGeom prst="rect">
            <a:avLst/>
          </a:prstGeom>
          <a:noFill/>
        </p:spPr>
        <p:txBody>
          <a:bodyPr wrap="square">
            <a:spAutoFit/>
          </a:bodyPr>
          <a:lstStyle/>
          <a:p>
            <a:pPr algn="ctr"/>
            <a:r>
              <a:rPr sz="1500" b="1" i="0">
                <a:solidFill>
                  <a:srgbClr val="C9A44A"/>
                </a:solidFill>
                <a:latin typeface="Calibri"/>
              </a:rPr>
              <a:t>Ingestion → Labélisation → Versioning → Entraînement → Recommandation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0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640080"/>
          </a:xfrm>
          <a:prstGeom prst="rect">
            <a:avLst/>
          </a:prstGeom>
          <a:noFill/>
        </p:spPr>
        <p:txBody>
          <a:bodyPr wrap="square">
            <a:spAutoFit/>
          </a:bodyPr>
          <a:lstStyle/>
          <a:p>
            <a:pPr algn="l"/>
            <a:r>
              <a:rPr sz="2800" b="1" i="0">
                <a:solidFill>
                  <a:srgbClr val="FFFFFF"/>
                </a:solidFill>
                <a:latin typeface="Calibri"/>
              </a:rPr>
              <a:t>Architecture de la plateforme</a:t>
            </a:r>
          </a:p>
        </p:txBody>
      </p:sp>
      <p:pic>
        <p:nvPicPr>
          <p:cNvPr id="4" name="Picture 3" descr="architecture.png"/>
          <p:cNvPicPr>
            <a:picLocks noChangeAspect="1"/>
          </p:cNvPicPr>
          <p:nvPr/>
        </p:nvPicPr>
        <p:blipFill>
          <a:blip r:embed="rId2"/>
          <a:stretch>
            <a:fillRect/>
          </a:stretch>
        </p:blipFill>
        <p:spPr>
          <a:xfrm>
            <a:off x="3200400" y="1325880"/>
            <a:ext cx="5760720" cy="3714277"/>
          </a:xfrm>
          <a:prstGeom prst="rect">
            <a:avLst/>
          </a:prstGeom>
        </p:spPr>
      </p:pic>
      <p:sp>
        <p:nvSpPr>
          <p:cNvPr id="5" name="TextBox 4"/>
          <p:cNvSpPr txBox="1"/>
          <p:nvPr/>
        </p:nvSpPr>
        <p:spPr>
          <a:xfrm>
            <a:off x="457200" y="6126480"/>
            <a:ext cx="11247120" cy="457200"/>
          </a:xfrm>
          <a:prstGeom prst="rect">
            <a:avLst/>
          </a:prstGeom>
          <a:noFill/>
        </p:spPr>
        <p:txBody>
          <a:bodyPr wrap="square">
            <a:spAutoFit/>
          </a:bodyPr>
          <a:lstStyle/>
          <a:p>
            <a:pPr algn="ctr"/>
            <a:r>
              <a:rPr sz="1300" b="0" i="0">
                <a:solidFill>
                  <a:srgbClr val="C9A44A"/>
                </a:solidFill>
                <a:latin typeface="Calibri"/>
              </a:rPr>
              <a:t>Séparation fichiers / métadonnées · ML offline + ML in-browser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0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640080"/>
          </a:xfrm>
          <a:prstGeom prst="rect">
            <a:avLst/>
          </a:prstGeom>
          <a:noFill/>
        </p:spPr>
        <p:txBody>
          <a:bodyPr wrap="square">
            <a:spAutoFit/>
          </a:bodyPr>
          <a:lstStyle/>
          <a:p>
            <a:pPr algn="l"/>
            <a:r>
              <a:rPr sz="2800" b="1" i="0">
                <a:solidFill>
                  <a:srgbClr val="FFFFFF"/>
                </a:solidFill>
                <a:latin typeface="Calibri"/>
              </a:rPr>
              <a:t>Stack technique</a:t>
            </a:r>
          </a:p>
        </p:txBody>
      </p:sp>
      <p:sp>
        <p:nvSpPr>
          <p:cNvPr id="4" name="Rectangle 3"/>
          <p:cNvSpPr/>
          <p:nvPr/>
        </p:nvSpPr>
        <p:spPr>
          <a:xfrm>
            <a:off x="365760" y="1325880"/>
            <a:ext cx="11430000" cy="603504"/>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3291840" cy="457200"/>
          </a:xfrm>
          <a:prstGeom prst="rect">
            <a:avLst/>
          </a:prstGeom>
          <a:noFill/>
        </p:spPr>
        <p:txBody>
          <a:bodyPr wrap="square">
            <a:spAutoFit/>
          </a:bodyPr>
          <a:lstStyle/>
          <a:p>
            <a:pPr algn="l"/>
            <a:r>
              <a:rPr sz="1400" b="1" i="0">
                <a:solidFill>
                  <a:srgbClr val="C9A44A"/>
                </a:solidFill>
                <a:latin typeface="Calibri"/>
              </a:rPr>
              <a:t>Frontend</a:t>
            </a:r>
          </a:p>
        </p:txBody>
      </p:sp>
      <p:sp>
        <p:nvSpPr>
          <p:cNvPr id="6" name="TextBox 5"/>
          <p:cNvSpPr txBox="1"/>
          <p:nvPr/>
        </p:nvSpPr>
        <p:spPr>
          <a:xfrm>
            <a:off x="3931920" y="1417320"/>
            <a:ext cx="7680960" cy="457200"/>
          </a:xfrm>
          <a:prstGeom prst="rect">
            <a:avLst/>
          </a:prstGeom>
          <a:noFill/>
        </p:spPr>
        <p:txBody>
          <a:bodyPr wrap="square">
            <a:spAutoFit/>
          </a:bodyPr>
          <a:lstStyle/>
          <a:p>
            <a:pPr algn="l"/>
            <a:r>
              <a:rPr sz="1400" b="0" i="0">
                <a:solidFill>
                  <a:srgbClr val="FFFFFF"/>
                </a:solidFill>
                <a:latin typeface="Calibri"/>
              </a:rPr>
              <a:t>Angular 17 — standalone, signals</a:t>
            </a:r>
          </a:p>
        </p:txBody>
      </p:sp>
      <p:sp>
        <p:nvSpPr>
          <p:cNvPr id="7" name="Rectangle 6"/>
          <p:cNvSpPr/>
          <p:nvPr/>
        </p:nvSpPr>
        <p:spPr>
          <a:xfrm>
            <a:off x="365760" y="2002536"/>
            <a:ext cx="11430000" cy="60350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093976"/>
            <a:ext cx="3291840" cy="457200"/>
          </a:xfrm>
          <a:prstGeom prst="rect">
            <a:avLst/>
          </a:prstGeom>
          <a:noFill/>
        </p:spPr>
        <p:txBody>
          <a:bodyPr wrap="square">
            <a:spAutoFit/>
          </a:bodyPr>
          <a:lstStyle/>
          <a:p>
            <a:pPr algn="l"/>
            <a:r>
              <a:rPr sz="1400" b="1" i="0">
                <a:solidFill>
                  <a:srgbClr val="C9A44A"/>
                </a:solidFill>
                <a:latin typeface="Calibri"/>
              </a:rPr>
              <a:t>Backend</a:t>
            </a:r>
          </a:p>
        </p:txBody>
      </p:sp>
      <p:sp>
        <p:nvSpPr>
          <p:cNvPr id="9" name="TextBox 8"/>
          <p:cNvSpPr txBox="1"/>
          <p:nvPr/>
        </p:nvSpPr>
        <p:spPr>
          <a:xfrm>
            <a:off x="3931920" y="2093976"/>
            <a:ext cx="7680960" cy="457200"/>
          </a:xfrm>
          <a:prstGeom prst="rect">
            <a:avLst/>
          </a:prstGeom>
          <a:noFill/>
        </p:spPr>
        <p:txBody>
          <a:bodyPr wrap="square">
            <a:spAutoFit/>
          </a:bodyPr>
          <a:lstStyle/>
          <a:p>
            <a:pPr algn="l"/>
            <a:r>
              <a:rPr sz="1400" b="0" i="0">
                <a:solidFill>
                  <a:srgbClr val="FFFFFF"/>
                </a:solidFill>
                <a:latin typeface="Calibri"/>
              </a:rPr>
              <a:t>NestJS + Mongoose</a:t>
            </a:r>
          </a:p>
        </p:txBody>
      </p:sp>
      <p:sp>
        <p:nvSpPr>
          <p:cNvPr id="10" name="Rectangle 9"/>
          <p:cNvSpPr/>
          <p:nvPr/>
        </p:nvSpPr>
        <p:spPr>
          <a:xfrm>
            <a:off x="365760" y="2679191"/>
            <a:ext cx="11430000" cy="603504"/>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770632"/>
            <a:ext cx="3291840" cy="457200"/>
          </a:xfrm>
          <a:prstGeom prst="rect">
            <a:avLst/>
          </a:prstGeom>
          <a:noFill/>
        </p:spPr>
        <p:txBody>
          <a:bodyPr wrap="square">
            <a:spAutoFit/>
          </a:bodyPr>
          <a:lstStyle/>
          <a:p>
            <a:pPr algn="l"/>
            <a:r>
              <a:rPr sz="1400" b="1" i="0">
                <a:solidFill>
                  <a:srgbClr val="C9A44A"/>
                </a:solidFill>
                <a:latin typeface="Calibri"/>
              </a:rPr>
              <a:t>Base de données</a:t>
            </a:r>
          </a:p>
        </p:txBody>
      </p:sp>
      <p:sp>
        <p:nvSpPr>
          <p:cNvPr id="12" name="TextBox 11"/>
          <p:cNvSpPr txBox="1"/>
          <p:nvPr/>
        </p:nvSpPr>
        <p:spPr>
          <a:xfrm>
            <a:off x="3931920" y="2770632"/>
            <a:ext cx="7680960" cy="457200"/>
          </a:xfrm>
          <a:prstGeom prst="rect">
            <a:avLst/>
          </a:prstGeom>
          <a:noFill/>
        </p:spPr>
        <p:txBody>
          <a:bodyPr wrap="square">
            <a:spAutoFit/>
          </a:bodyPr>
          <a:lstStyle/>
          <a:p>
            <a:pPr algn="l"/>
            <a:r>
              <a:rPr sz="1400" b="0" i="0">
                <a:solidFill>
                  <a:srgbClr val="FFFFFF"/>
                </a:solidFill>
                <a:latin typeface="Calibri"/>
              </a:rPr>
              <a:t>MongoDB (base datacut)</a:t>
            </a:r>
          </a:p>
        </p:txBody>
      </p:sp>
      <p:sp>
        <p:nvSpPr>
          <p:cNvPr id="13" name="Rectangle 12"/>
          <p:cNvSpPr/>
          <p:nvPr/>
        </p:nvSpPr>
        <p:spPr>
          <a:xfrm>
            <a:off x="365760" y="3355848"/>
            <a:ext cx="11430000" cy="60350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447288"/>
            <a:ext cx="3291840" cy="457200"/>
          </a:xfrm>
          <a:prstGeom prst="rect">
            <a:avLst/>
          </a:prstGeom>
          <a:noFill/>
        </p:spPr>
        <p:txBody>
          <a:bodyPr wrap="square">
            <a:spAutoFit/>
          </a:bodyPr>
          <a:lstStyle/>
          <a:p>
            <a:pPr algn="l"/>
            <a:r>
              <a:rPr sz="1400" b="1" i="0">
                <a:solidFill>
                  <a:srgbClr val="C9A44A"/>
                </a:solidFill>
                <a:latin typeface="Calibri"/>
              </a:rPr>
              <a:t>Feature extraction</a:t>
            </a:r>
          </a:p>
        </p:txBody>
      </p:sp>
      <p:sp>
        <p:nvSpPr>
          <p:cNvPr id="15" name="TextBox 14"/>
          <p:cNvSpPr txBox="1"/>
          <p:nvPr/>
        </p:nvSpPr>
        <p:spPr>
          <a:xfrm>
            <a:off x="3931920" y="3447288"/>
            <a:ext cx="7680960" cy="457200"/>
          </a:xfrm>
          <a:prstGeom prst="rect">
            <a:avLst/>
          </a:prstGeom>
          <a:noFill/>
        </p:spPr>
        <p:txBody>
          <a:bodyPr wrap="square">
            <a:spAutoFit/>
          </a:bodyPr>
          <a:lstStyle/>
          <a:p>
            <a:pPr algn="l"/>
            <a:r>
              <a:rPr sz="1400" b="0" i="0">
                <a:solidFill>
                  <a:srgbClr val="FFFFFF"/>
                </a:solidFill>
                <a:latin typeface="Calibri"/>
              </a:rPr>
              <a:t>sharp (Node.js)</a:t>
            </a:r>
          </a:p>
        </p:txBody>
      </p:sp>
      <p:sp>
        <p:nvSpPr>
          <p:cNvPr id="16" name="Rectangle 15"/>
          <p:cNvSpPr/>
          <p:nvPr/>
        </p:nvSpPr>
        <p:spPr>
          <a:xfrm>
            <a:off x="365760" y="4032504"/>
            <a:ext cx="11430000" cy="603504"/>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123944"/>
            <a:ext cx="3291840" cy="457200"/>
          </a:xfrm>
          <a:prstGeom prst="rect">
            <a:avLst/>
          </a:prstGeom>
          <a:noFill/>
        </p:spPr>
        <p:txBody>
          <a:bodyPr wrap="square">
            <a:spAutoFit/>
          </a:bodyPr>
          <a:lstStyle/>
          <a:p>
            <a:pPr algn="l"/>
            <a:r>
              <a:rPr sz="1400" b="1" i="0">
                <a:solidFill>
                  <a:srgbClr val="C9A44A"/>
                </a:solidFill>
                <a:latin typeface="Calibri"/>
              </a:rPr>
              <a:t>ML entraînement</a:t>
            </a:r>
          </a:p>
        </p:txBody>
      </p:sp>
      <p:sp>
        <p:nvSpPr>
          <p:cNvPr id="18" name="TextBox 17"/>
          <p:cNvSpPr txBox="1"/>
          <p:nvPr/>
        </p:nvSpPr>
        <p:spPr>
          <a:xfrm>
            <a:off x="3931920" y="4123944"/>
            <a:ext cx="7680960" cy="457200"/>
          </a:xfrm>
          <a:prstGeom prst="rect">
            <a:avLst/>
          </a:prstGeom>
          <a:noFill/>
        </p:spPr>
        <p:txBody>
          <a:bodyPr wrap="square">
            <a:spAutoFit/>
          </a:bodyPr>
          <a:lstStyle/>
          <a:p>
            <a:pPr algn="l"/>
            <a:r>
              <a:rPr sz="1400" b="0" i="0">
                <a:solidFill>
                  <a:srgbClr val="FFFFFF"/>
                </a:solidFill>
                <a:latin typeface="Calibri"/>
              </a:rPr>
              <a:t>Python · scikit-learn · RandomForest</a:t>
            </a:r>
          </a:p>
        </p:txBody>
      </p:sp>
      <p:sp>
        <p:nvSpPr>
          <p:cNvPr id="19" name="Rectangle 18"/>
          <p:cNvSpPr/>
          <p:nvPr/>
        </p:nvSpPr>
        <p:spPr>
          <a:xfrm>
            <a:off x="365760" y="4709160"/>
            <a:ext cx="11430000" cy="603504"/>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800600"/>
            <a:ext cx="3291840" cy="457200"/>
          </a:xfrm>
          <a:prstGeom prst="rect">
            <a:avLst/>
          </a:prstGeom>
          <a:noFill/>
        </p:spPr>
        <p:txBody>
          <a:bodyPr wrap="square">
            <a:spAutoFit/>
          </a:bodyPr>
          <a:lstStyle/>
          <a:p>
            <a:pPr algn="l"/>
            <a:r>
              <a:rPr sz="1400" b="1" i="0">
                <a:solidFill>
                  <a:srgbClr val="C9A44A"/>
                </a:solidFill>
                <a:latin typeface="Calibri"/>
              </a:rPr>
              <a:t>ML client</a:t>
            </a:r>
          </a:p>
        </p:txBody>
      </p:sp>
      <p:sp>
        <p:nvSpPr>
          <p:cNvPr id="21" name="TextBox 20"/>
          <p:cNvSpPr txBox="1"/>
          <p:nvPr/>
        </p:nvSpPr>
        <p:spPr>
          <a:xfrm>
            <a:off x="3931920" y="4800600"/>
            <a:ext cx="7680960" cy="457200"/>
          </a:xfrm>
          <a:prstGeom prst="rect">
            <a:avLst/>
          </a:prstGeom>
          <a:noFill/>
        </p:spPr>
        <p:txBody>
          <a:bodyPr wrap="square">
            <a:spAutoFit/>
          </a:bodyPr>
          <a:lstStyle/>
          <a:p>
            <a:pPr algn="l"/>
            <a:r>
              <a:rPr sz="1400" b="0" i="0">
                <a:solidFill>
                  <a:srgbClr val="FFFFFF"/>
                </a:solidFill>
                <a:latin typeface="Calibri"/>
              </a:rPr>
              <a:t>MediaPipe Face Landmarker (WebAssembly)</a:t>
            </a:r>
          </a:p>
        </p:txBody>
      </p:sp>
      <p:sp>
        <p:nvSpPr>
          <p:cNvPr id="22" name="Rectangle 21"/>
          <p:cNvSpPr/>
          <p:nvPr/>
        </p:nvSpPr>
        <p:spPr>
          <a:xfrm>
            <a:off x="365760" y="5385816"/>
            <a:ext cx="11430000" cy="603504"/>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477255"/>
            <a:ext cx="3291840" cy="457200"/>
          </a:xfrm>
          <a:prstGeom prst="rect">
            <a:avLst/>
          </a:prstGeom>
          <a:noFill/>
        </p:spPr>
        <p:txBody>
          <a:bodyPr wrap="square">
            <a:spAutoFit/>
          </a:bodyPr>
          <a:lstStyle/>
          <a:p>
            <a:pPr algn="l"/>
            <a:r>
              <a:rPr sz="1400" b="1" i="0">
                <a:solidFill>
                  <a:srgbClr val="C9A44A"/>
                </a:solidFill>
                <a:latin typeface="Calibri"/>
              </a:rPr>
              <a:t>Authentification</a:t>
            </a:r>
          </a:p>
        </p:txBody>
      </p:sp>
      <p:sp>
        <p:nvSpPr>
          <p:cNvPr id="24" name="TextBox 23"/>
          <p:cNvSpPr txBox="1"/>
          <p:nvPr/>
        </p:nvSpPr>
        <p:spPr>
          <a:xfrm>
            <a:off x="3931920" y="5477255"/>
            <a:ext cx="7680960" cy="457200"/>
          </a:xfrm>
          <a:prstGeom prst="rect">
            <a:avLst/>
          </a:prstGeom>
          <a:noFill/>
        </p:spPr>
        <p:txBody>
          <a:bodyPr wrap="square">
            <a:spAutoFit/>
          </a:bodyPr>
          <a:lstStyle/>
          <a:p>
            <a:pPr algn="l"/>
            <a:r>
              <a:rPr sz="1400" b="0" i="0">
                <a:solidFill>
                  <a:srgbClr val="FFFFFF"/>
                </a:solidFill>
                <a:latin typeface="Calibri"/>
              </a:rPr>
              <a:t>JWT + OAuth2 Google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0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640080"/>
          </a:xfrm>
          <a:prstGeom prst="rect">
            <a:avLst/>
          </a:prstGeom>
          <a:noFill/>
        </p:spPr>
        <p:txBody>
          <a:bodyPr wrap="square">
            <a:spAutoFit/>
          </a:bodyPr>
          <a:lstStyle/>
          <a:p>
            <a:pPr algn="l"/>
            <a:r>
              <a:rPr sz="2800" b="1" i="0">
                <a:solidFill>
                  <a:srgbClr val="FFFFFF"/>
                </a:solidFill>
                <a:latin typeface="Calibri"/>
              </a:rPr>
              <a:t>Schéma de base de données</a:t>
            </a:r>
          </a:p>
        </p:txBody>
      </p:sp>
      <p:pic>
        <p:nvPicPr>
          <p:cNvPr id="4" name="Picture 3" descr="db_schema.png"/>
          <p:cNvPicPr>
            <a:picLocks noChangeAspect="1"/>
          </p:cNvPicPr>
          <p:nvPr/>
        </p:nvPicPr>
        <p:blipFill>
          <a:blip r:embed="rId2"/>
          <a:stretch>
            <a:fillRect/>
          </a:stretch>
        </p:blipFill>
        <p:spPr>
          <a:xfrm>
            <a:off x="1280160" y="1325880"/>
            <a:ext cx="9601200" cy="4909336"/>
          </a:xfrm>
          <a:prstGeom prst="rect">
            <a:avLst/>
          </a:prstGeom>
        </p:spPr>
      </p:pic>
      <p:sp>
        <p:nvSpPr>
          <p:cNvPr id="5" name="TextBox 4"/>
          <p:cNvSpPr txBox="1"/>
          <p:nvPr/>
        </p:nvSpPr>
        <p:spPr>
          <a:xfrm>
            <a:off x="457200" y="6309360"/>
            <a:ext cx="11247120" cy="365760"/>
          </a:xfrm>
          <a:prstGeom prst="rect">
            <a:avLst/>
          </a:prstGeom>
          <a:noFill/>
        </p:spPr>
        <p:txBody>
          <a:bodyPr wrap="square">
            <a:spAutoFit/>
          </a:bodyPr>
          <a:lstStyle/>
          <a:p>
            <a:pPr algn="ctr"/>
            <a:r>
              <a:rPr sz="1200" b="0" i="1">
                <a:solidFill>
                  <a:srgbClr val="C9A44A"/>
                </a:solidFill>
                <a:latin typeface="Calibri"/>
              </a:rPr>
              <a:t>GalleryItem.datasetVersion → DatasetVersion.version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0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640080"/>
          </a:xfrm>
          <a:prstGeom prst="rect">
            <a:avLst/>
          </a:prstGeom>
          <a:noFill/>
        </p:spPr>
        <p:txBody>
          <a:bodyPr wrap="square">
            <a:spAutoFit/>
          </a:bodyPr>
          <a:lstStyle/>
          <a:p>
            <a:pPr algn="l"/>
            <a:r>
              <a:rPr sz="2800" b="1" i="0">
                <a:solidFill>
                  <a:srgbClr val="FFFFFF"/>
                </a:solidFill>
                <a:latin typeface="Calibri"/>
              </a:rPr>
              <a:t>Pipeline de données — 5 statuts</a:t>
            </a:r>
          </a:p>
        </p:txBody>
      </p:sp>
      <p:pic>
        <p:nvPicPr>
          <p:cNvPr id="4" name="Picture 3" descr="pipeline.png"/>
          <p:cNvPicPr>
            <a:picLocks noChangeAspect="1"/>
          </p:cNvPicPr>
          <p:nvPr/>
        </p:nvPicPr>
        <p:blipFill>
          <a:blip r:embed="rId2"/>
          <a:stretch>
            <a:fillRect/>
          </a:stretch>
        </p:blipFill>
        <p:spPr>
          <a:xfrm>
            <a:off x="640080" y="1554480"/>
            <a:ext cx="10881360" cy="3057269"/>
          </a:xfrm>
          <a:prstGeom prst="rect">
            <a:avLst/>
          </a:prstGeom>
        </p:spPr>
      </p:pic>
      <p:sp>
        <p:nvSpPr>
          <p:cNvPr id="5" name="TextBox 4"/>
          <p:cNvSpPr txBox="1"/>
          <p:nvPr/>
        </p:nvSpPr>
        <p:spPr>
          <a:xfrm>
            <a:off x="548640" y="3749039"/>
            <a:ext cx="11155680" cy="502920"/>
          </a:xfrm>
          <a:prstGeom prst="rect">
            <a:avLst/>
          </a:prstGeom>
          <a:noFill/>
        </p:spPr>
        <p:txBody>
          <a:bodyPr wrap="square">
            <a:spAutoFit/>
          </a:bodyPr>
          <a:lstStyle/>
          <a:p>
            <a:pPr algn="l"/>
            <a:r>
              <a:rPr sz="1300" b="0" i="0">
                <a:solidFill>
                  <a:srgbClr val="FFFFFF"/>
                </a:solidFill>
                <a:latin typeface="Calibri"/>
              </a:rPr>
              <a:t>▸  RAW — NestJS + Multer reçoit le fichier, sharp extrait les features</a:t>
            </a:r>
          </a:p>
        </p:txBody>
      </p:sp>
      <p:sp>
        <p:nvSpPr>
          <p:cNvPr id="6" name="TextBox 5"/>
          <p:cNvSpPr txBox="1"/>
          <p:nvPr/>
        </p:nvSpPr>
        <p:spPr>
          <a:xfrm>
            <a:off x="548640" y="4206240"/>
            <a:ext cx="11155680" cy="502920"/>
          </a:xfrm>
          <a:prstGeom prst="rect">
            <a:avLst/>
          </a:prstGeom>
          <a:noFill/>
        </p:spPr>
        <p:txBody>
          <a:bodyPr wrap="square">
            <a:spAutoFit/>
          </a:bodyPr>
          <a:lstStyle/>
          <a:p>
            <a:pPr algn="l"/>
            <a:r>
              <a:rPr sz="1300" b="0" i="0">
                <a:solidFill>
                  <a:srgbClr val="FFFFFF"/>
                </a:solidFill>
                <a:latin typeface="Calibri"/>
              </a:rPr>
              <a:t>▸  VALIDATED — vérification visuelle de la qualité</a:t>
            </a:r>
          </a:p>
        </p:txBody>
      </p:sp>
      <p:sp>
        <p:nvSpPr>
          <p:cNvPr id="7" name="TextBox 6"/>
          <p:cNvSpPr txBox="1"/>
          <p:nvPr/>
        </p:nvSpPr>
        <p:spPr>
          <a:xfrm>
            <a:off x="548640" y="4663440"/>
            <a:ext cx="11155680" cy="502920"/>
          </a:xfrm>
          <a:prstGeom prst="rect">
            <a:avLst/>
          </a:prstGeom>
          <a:noFill/>
        </p:spPr>
        <p:txBody>
          <a:bodyPr wrap="square">
            <a:spAutoFit/>
          </a:bodyPr>
          <a:lstStyle/>
          <a:p>
            <a:pPr algn="l"/>
            <a:r>
              <a:rPr sz="1300" b="0" i="0">
                <a:solidFill>
                  <a:srgbClr val="FFFFFF"/>
                </a:solidFill>
                <a:latin typeface="Calibri"/>
              </a:rPr>
              <a:t>▸  LABELED — 1 à N labels parmi 12 disponibles</a:t>
            </a:r>
          </a:p>
        </p:txBody>
      </p:sp>
      <p:sp>
        <p:nvSpPr>
          <p:cNvPr id="8" name="TextBox 7"/>
          <p:cNvSpPr txBox="1"/>
          <p:nvPr/>
        </p:nvSpPr>
        <p:spPr>
          <a:xfrm>
            <a:off x="548640" y="5120640"/>
            <a:ext cx="11155680" cy="502920"/>
          </a:xfrm>
          <a:prstGeom prst="rect">
            <a:avLst/>
          </a:prstGeom>
          <a:noFill/>
        </p:spPr>
        <p:txBody>
          <a:bodyPr wrap="square">
            <a:spAutoFit/>
          </a:bodyPr>
          <a:lstStyle/>
          <a:p>
            <a:pPr algn="l"/>
            <a:r>
              <a:rPr sz="1300" b="0" i="0">
                <a:solidFill>
                  <a:srgbClr val="FFFFFF"/>
                </a:solidFill>
                <a:latin typeface="Calibri"/>
              </a:rPr>
              <a:t>▸  PROCESSED — validation finale avant export</a:t>
            </a:r>
          </a:p>
        </p:txBody>
      </p:sp>
      <p:sp>
        <p:nvSpPr>
          <p:cNvPr id="9" name="TextBox 8"/>
          <p:cNvSpPr txBox="1"/>
          <p:nvPr/>
        </p:nvSpPr>
        <p:spPr>
          <a:xfrm>
            <a:off x="548640" y="5577840"/>
            <a:ext cx="11155680" cy="502920"/>
          </a:xfrm>
          <a:prstGeom prst="rect">
            <a:avLst/>
          </a:prstGeom>
          <a:noFill/>
        </p:spPr>
        <p:txBody>
          <a:bodyPr wrap="square">
            <a:spAutoFit/>
          </a:bodyPr>
          <a:lstStyle/>
          <a:p>
            <a:pPr algn="l"/>
            <a:r>
              <a:rPr sz="1300" b="0" i="0">
                <a:solidFill>
                  <a:srgbClr val="FFFFFF"/>
                </a:solidFill>
                <a:latin typeface="Calibri"/>
              </a:rPr>
              <a:t>▸  EXPORTED — image intégrée dans un snapshot versionné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0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640080"/>
          </a:xfrm>
          <a:prstGeom prst="rect">
            <a:avLst/>
          </a:prstGeom>
          <a:noFill/>
        </p:spPr>
        <p:txBody>
          <a:bodyPr wrap="square">
            <a:spAutoFit/>
          </a:bodyPr>
          <a:lstStyle/>
          <a:p>
            <a:pPr algn="l"/>
            <a:r>
              <a:rPr sz="2800" b="1" i="0">
                <a:solidFill>
                  <a:srgbClr val="FFFFFF"/>
                </a:solidFill>
                <a:latin typeface="Calibri"/>
              </a:rPr>
              <a:t>Extraction automatique de features (sharp)</a:t>
            </a:r>
          </a:p>
        </p:txBody>
      </p:sp>
      <p:sp>
        <p:nvSpPr>
          <p:cNvPr id="4" name="TextBox 3"/>
          <p:cNvSpPr txBox="1"/>
          <p:nvPr/>
        </p:nvSpPr>
        <p:spPr>
          <a:xfrm>
            <a:off x="457200" y="1234440"/>
            <a:ext cx="11247120" cy="411480"/>
          </a:xfrm>
          <a:prstGeom prst="rect">
            <a:avLst/>
          </a:prstGeom>
          <a:noFill/>
        </p:spPr>
        <p:txBody>
          <a:bodyPr wrap="square">
            <a:spAutoFit/>
          </a:bodyPr>
          <a:lstStyle/>
          <a:p>
            <a:pPr algn="l"/>
            <a:r>
              <a:rPr sz="1300" b="0" i="1">
                <a:solidFill>
                  <a:srgbClr val="AAAAAA"/>
                </a:solidFill>
                <a:latin typeface="Calibri"/>
              </a:rPr>
              <a:t>À chaque upload — automatique, transparent pour l'admin</a:t>
            </a:r>
          </a:p>
        </p:txBody>
      </p:sp>
      <p:sp>
        <p:nvSpPr>
          <p:cNvPr id="5" name="Rectangle 4"/>
          <p:cNvSpPr/>
          <p:nvPr/>
        </p:nvSpPr>
        <p:spPr>
          <a:xfrm>
            <a:off x="457200" y="1783080"/>
            <a:ext cx="10789920" cy="603504"/>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2286000" cy="457200"/>
          </a:xfrm>
          <a:prstGeom prst="rect">
            <a:avLst/>
          </a:prstGeom>
          <a:noFill/>
        </p:spPr>
        <p:txBody>
          <a:bodyPr wrap="square">
            <a:spAutoFit/>
          </a:bodyPr>
          <a:lstStyle/>
          <a:p>
            <a:pPr algn="l"/>
            <a:r>
              <a:rPr sz="1400" b="1" i="0">
                <a:solidFill>
                  <a:srgbClr val="C9A44A"/>
                </a:solidFill>
                <a:latin typeface="Calibri"/>
              </a:rPr>
              <a:t>width</a:t>
            </a:r>
          </a:p>
        </p:txBody>
      </p:sp>
      <p:sp>
        <p:nvSpPr>
          <p:cNvPr id="7" name="TextBox 6"/>
          <p:cNvSpPr txBox="1"/>
          <p:nvPr/>
        </p:nvSpPr>
        <p:spPr>
          <a:xfrm>
            <a:off x="3017520" y="1874519"/>
            <a:ext cx="5486400" cy="457200"/>
          </a:xfrm>
          <a:prstGeom prst="rect">
            <a:avLst/>
          </a:prstGeom>
          <a:noFill/>
        </p:spPr>
        <p:txBody>
          <a:bodyPr wrap="square">
            <a:spAutoFit/>
          </a:bodyPr>
          <a:lstStyle/>
          <a:p>
            <a:pPr algn="l"/>
            <a:r>
              <a:rPr sz="1400" b="0" i="0">
                <a:solidFill>
                  <a:srgbClr val="FFFFFF"/>
                </a:solidFill>
                <a:latin typeface="Calibri"/>
              </a:rPr>
              <a:t>Largeur en pixels</a:t>
            </a:r>
          </a:p>
        </p:txBody>
      </p:sp>
      <p:sp>
        <p:nvSpPr>
          <p:cNvPr id="8" name="TextBox 7"/>
          <p:cNvSpPr txBox="1"/>
          <p:nvPr/>
        </p:nvSpPr>
        <p:spPr>
          <a:xfrm>
            <a:off x="8686800" y="1874519"/>
            <a:ext cx="2286000" cy="457200"/>
          </a:xfrm>
          <a:prstGeom prst="rect">
            <a:avLst/>
          </a:prstGeom>
          <a:noFill/>
        </p:spPr>
        <p:txBody>
          <a:bodyPr wrap="square">
            <a:spAutoFit/>
          </a:bodyPr>
          <a:lstStyle/>
          <a:p>
            <a:pPr algn="r"/>
            <a:r>
              <a:rPr sz="1400" b="0" i="0">
                <a:solidFill>
                  <a:srgbClr val="AAAAAA"/>
                </a:solidFill>
                <a:latin typeface="Calibri"/>
              </a:rPr>
              <a:t>1080</a:t>
            </a:r>
          </a:p>
        </p:txBody>
      </p:sp>
      <p:sp>
        <p:nvSpPr>
          <p:cNvPr id="9" name="Rectangle 8"/>
          <p:cNvSpPr/>
          <p:nvPr/>
        </p:nvSpPr>
        <p:spPr>
          <a:xfrm>
            <a:off x="457200" y="2459736"/>
            <a:ext cx="10789920" cy="603504"/>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51176"/>
            <a:ext cx="2286000" cy="457200"/>
          </a:xfrm>
          <a:prstGeom prst="rect">
            <a:avLst/>
          </a:prstGeom>
          <a:noFill/>
        </p:spPr>
        <p:txBody>
          <a:bodyPr wrap="square">
            <a:spAutoFit/>
          </a:bodyPr>
          <a:lstStyle/>
          <a:p>
            <a:pPr algn="l"/>
            <a:r>
              <a:rPr sz="1400" b="1" i="0">
                <a:solidFill>
                  <a:srgbClr val="C9A44A"/>
                </a:solidFill>
                <a:latin typeface="Calibri"/>
              </a:rPr>
              <a:t>height</a:t>
            </a:r>
          </a:p>
        </p:txBody>
      </p:sp>
      <p:sp>
        <p:nvSpPr>
          <p:cNvPr id="11" name="TextBox 10"/>
          <p:cNvSpPr txBox="1"/>
          <p:nvPr/>
        </p:nvSpPr>
        <p:spPr>
          <a:xfrm>
            <a:off x="3017520" y="2551176"/>
            <a:ext cx="5486400" cy="457200"/>
          </a:xfrm>
          <a:prstGeom prst="rect">
            <a:avLst/>
          </a:prstGeom>
          <a:noFill/>
        </p:spPr>
        <p:txBody>
          <a:bodyPr wrap="square">
            <a:spAutoFit/>
          </a:bodyPr>
          <a:lstStyle/>
          <a:p>
            <a:pPr algn="l"/>
            <a:r>
              <a:rPr sz="1400" b="0" i="0">
                <a:solidFill>
                  <a:srgbClr val="FFFFFF"/>
                </a:solidFill>
                <a:latin typeface="Calibri"/>
              </a:rPr>
              <a:t>Hauteur en pixels</a:t>
            </a:r>
          </a:p>
        </p:txBody>
      </p:sp>
      <p:sp>
        <p:nvSpPr>
          <p:cNvPr id="12" name="TextBox 11"/>
          <p:cNvSpPr txBox="1"/>
          <p:nvPr/>
        </p:nvSpPr>
        <p:spPr>
          <a:xfrm>
            <a:off x="8686800" y="2551176"/>
            <a:ext cx="2286000" cy="457200"/>
          </a:xfrm>
          <a:prstGeom prst="rect">
            <a:avLst/>
          </a:prstGeom>
          <a:noFill/>
        </p:spPr>
        <p:txBody>
          <a:bodyPr wrap="square">
            <a:spAutoFit/>
          </a:bodyPr>
          <a:lstStyle/>
          <a:p>
            <a:pPr algn="r"/>
            <a:r>
              <a:rPr sz="1400" b="0" i="0">
                <a:solidFill>
                  <a:srgbClr val="AAAAAA"/>
                </a:solidFill>
                <a:latin typeface="Calibri"/>
              </a:rPr>
              <a:t>1350</a:t>
            </a:r>
          </a:p>
        </p:txBody>
      </p:sp>
      <p:sp>
        <p:nvSpPr>
          <p:cNvPr id="13" name="Rectangle 12"/>
          <p:cNvSpPr/>
          <p:nvPr/>
        </p:nvSpPr>
        <p:spPr>
          <a:xfrm>
            <a:off x="457200" y="3136391"/>
            <a:ext cx="10789920" cy="603504"/>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227832"/>
            <a:ext cx="2286000" cy="457200"/>
          </a:xfrm>
          <a:prstGeom prst="rect">
            <a:avLst/>
          </a:prstGeom>
          <a:noFill/>
        </p:spPr>
        <p:txBody>
          <a:bodyPr wrap="square">
            <a:spAutoFit/>
          </a:bodyPr>
          <a:lstStyle/>
          <a:p>
            <a:pPr algn="l"/>
            <a:r>
              <a:rPr sz="1400" b="1" i="0">
                <a:solidFill>
                  <a:srgbClr val="C9A44A"/>
                </a:solidFill>
                <a:latin typeface="Calibri"/>
              </a:rPr>
              <a:t>sizeKb</a:t>
            </a:r>
          </a:p>
        </p:txBody>
      </p:sp>
      <p:sp>
        <p:nvSpPr>
          <p:cNvPr id="15" name="TextBox 14"/>
          <p:cNvSpPr txBox="1"/>
          <p:nvPr/>
        </p:nvSpPr>
        <p:spPr>
          <a:xfrm>
            <a:off x="3017520" y="3227832"/>
            <a:ext cx="5486400" cy="457200"/>
          </a:xfrm>
          <a:prstGeom prst="rect">
            <a:avLst/>
          </a:prstGeom>
          <a:noFill/>
        </p:spPr>
        <p:txBody>
          <a:bodyPr wrap="square">
            <a:spAutoFit/>
          </a:bodyPr>
          <a:lstStyle/>
          <a:p>
            <a:pPr algn="l"/>
            <a:r>
              <a:rPr sz="1400" b="0" i="0">
                <a:solidFill>
                  <a:srgbClr val="FFFFFF"/>
                </a:solidFill>
                <a:latin typeface="Calibri"/>
              </a:rPr>
              <a:t>Taille du fichier</a:t>
            </a:r>
          </a:p>
        </p:txBody>
      </p:sp>
      <p:sp>
        <p:nvSpPr>
          <p:cNvPr id="16" name="TextBox 15"/>
          <p:cNvSpPr txBox="1"/>
          <p:nvPr/>
        </p:nvSpPr>
        <p:spPr>
          <a:xfrm>
            <a:off x="8686800" y="3227832"/>
            <a:ext cx="2286000" cy="457200"/>
          </a:xfrm>
          <a:prstGeom prst="rect">
            <a:avLst/>
          </a:prstGeom>
          <a:noFill/>
        </p:spPr>
        <p:txBody>
          <a:bodyPr wrap="square">
            <a:spAutoFit/>
          </a:bodyPr>
          <a:lstStyle/>
          <a:p>
            <a:pPr algn="r"/>
            <a:r>
              <a:rPr sz="1400" b="0" i="0">
                <a:solidFill>
                  <a:srgbClr val="AAAAAA"/>
                </a:solidFill>
                <a:latin typeface="Calibri"/>
              </a:rPr>
              <a:t>312 Ko</a:t>
            </a:r>
          </a:p>
        </p:txBody>
      </p:sp>
      <p:sp>
        <p:nvSpPr>
          <p:cNvPr id="17" name="Rectangle 16"/>
          <p:cNvSpPr/>
          <p:nvPr/>
        </p:nvSpPr>
        <p:spPr>
          <a:xfrm>
            <a:off x="457200" y="3813048"/>
            <a:ext cx="10789920" cy="603504"/>
          </a:xfrm>
          <a:prstGeom prst="rect">
            <a:avLst/>
          </a:prstGeom>
          <a:solidFill>
            <a:srgbClr val="1C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904487"/>
            <a:ext cx="2286000" cy="457200"/>
          </a:xfrm>
          <a:prstGeom prst="rect">
            <a:avLst/>
          </a:prstGeom>
          <a:noFill/>
        </p:spPr>
        <p:txBody>
          <a:bodyPr wrap="square">
            <a:spAutoFit/>
          </a:bodyPr>
          <a:lstStyle/>
          <a:p>
            <a:pPr algn="l"/>
            <a:r>
              <a:rPr sz="1400" b="1" i="0">
                <a:solidFill>
                  <a:srgbClr val="C9A44A"/>
                </a:solidFill>
                <a:latin typeface="Calibri"/>
              </a:rPr>
              <a:t>ratio</a:t>
            </a:r>
          </a:p>
        </p:txBody>
      </p:sp>
      <p:sp>
        <p:nvSpPr>
          <p:cNvPr id="19" name="TextBox 18"/>
          <p:cNvSpPr txBox="1"/>
          <p:nvPr/>
        </p:nvSpPr>
        <p:spPr>
          <a:xfrm>
            <a:off x="3017520" y="3904487"/>
            <a:ext cx="5486400" cy="457200"/>
          </a:xfrm>
          <a:prstGeom prst="rect">
            <a:avLst/>
          </a:prstGeom>
          <a:noFill/>
        </p:spPr>
        <p:txBody>
          <a:bodyPr wrap="square">
            <a:spAutoFit/>
          </a:bodyPr>
          <a:lstStyle/>
          <a:p>
            <a:pPr algn="l"/>
            <a:r>
              <a:rPr sz="1400" b="0" i="0">
                <a:solidFill>
                  <a:srgbClr val="FFFFFF"/>
                </a:solidFill>
                <a:latin typeface="Calibri"/>
              </a:rPr>
              <a:t>Largeur / Hauteur</a:t>
            </a:r>
          </a:p>
        </p:txBody>
      </p:sp>
      <p:sp>
        <p:nvSpPr>
          <p:cNvPr id="20" name="TextBox 19"/>
          <p:cNvSpPr txBox="1"/>
          <p:nvPr/>
        </p:nvSpPr>
        <p:spPr>
          <a:xfrm>
            <a:off x="8686800" y="3904487"/>
            <a:ext cx="2286000" cy="457200"/>
          </a:xfrm>
          <a:prstGeom prst="rect">
            <a:avLst/>
          </a:prstGeom>
          <a:noFill/>
        </p:spPr>
        <p:txBody>
          <a:bodyPr wrap="square">
            <a:spAutoFit/>
          </a:bodyPr>
          <a:lstStyle/>
          <a:p>
            <a:pPr algn="r"/>
            <a:r>
              <a:rPr sz="1400" b="0" i="0">
                <a:solidFill>
                  <a:srgbClr val="AAAAAA"/>
                </a:solidFill>
                <a:latin typeface="Calibri"/>
              </a:rPr>
              <a:t>0.80</a:t>
            </a:r>
          </a:p>
        </p:txBody>
      </p:sp>
      <p:sp>
        <p:nvSpPr>
          <p:cNvPr id="21" name="Rectangle 20"/>
          <p:cNvSpPr/>
          <p:nvPr/>
        </p:nvSpPr>
        <p:spPr>
          <a:xfrm>
            <a:off x="457200" y="4489704"/>
            <a:ext cx="10789920" cy="603504"/>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581144"/>
            <a:ext cx="2286000" cy="457200"/>
          </a:xfrm>
          <a:prstGeom prst="rect">
            <a:avLst/>
          </a:prstGeom>
          <a:noFill/>
        </p:spPr>
        <p:txBody>
          <a:bodyPr wrap="square">
            <a:spAutoFit/>
          </a:bodyPr>
          <a:lstStyle/>
          <a:p>
            <a:pPr algn="l"/>
            <a:r>
              <a:rPr sz="1400" b="1" i="0">
                <a:solidFill>
                  <a:srgbClr val="C9A44A"/>
                </a:solidFill>
                <a:latin typeface="Calibri"/>
              </a:rPr>
              <a:t>r, g, b</a:t>
            </a:r>
          </a:p>
        </p:txBody>
      </p:sp>
      <p:sp>
        <p:nvSpPr>
          <p:cNvPr id="23" name="TextBox 22"/>
          <p:cNvSpPr txBox="1"/>
          <p:nvPr/>
        </p:nvSpPr>
        <p:spPr>
          <a:xfrm>
            <a:off x="3017520" y="4581144"/>
            <a:ext cx="5486400" cy="457200"/>
          </a:xfrm>
          <a:prstGeom prst="rect">
            <a:avLst/>
          </a:prstGeom>
          <a:noFill/>
        </p:spPr>
        <p:txBody>
          <a:bodyPr wrap="square">
            <a:spAutoFit/>
          </a:bodyPr>
          <a:lstStyle/>
          <a:p>
            <a:pPr algn="l"/>
            <a:r>
              <a:rPr sz="1400" b="0" i="0">
                <a:solidFill>
                  <a:srgbClr val="FFFFFF"/>
                </a:solidFill>
                <a:latin typeface="Calibri"/>
              </a:rPr>
              <a:t>Couleur dominante (RGB)</a:t>
            </a:r>
          </a:p>
        </p:txBody>
      </p:sp>
      <p:sp>
        <p:nvSpPr>
          <p:cNvPr id="24" name="TextBox 23"/>
          <p:cNvSpPr txBox="1"/>
          <p:nvPr/>
        </p:nvSpPr>
        <p:spPr>
          <a:xfrm>
            <a:off x="8686800" y="4581144"/>
            <a:ext cx="2286000" cy="457200"/>
          </a:xfrm>
          <a:prstGeom prst="rect">
            <a:avLst/>
          </a:prstGeom>
          <a:noFill/>
        </p:spPr>
        <p:txBody>
          <a:bodyPr wrap="square">
            <a:spAutoFit/>
          </a:bodyPr>
          <a:lstStyle/>
          <a:p>
            <a:pPr algn="r"/>
            <a:r>
              <a:rPr sz="1400" b="0" i="0">
                <a:solidFill>
                  <a:srgbClr val="AAAAAA"/>
                </a:solidFill>
                <a:latin typeface="Calibri"/>
              </a:rPr>
              <a:t>142, 98, 67</a:t>
            </a:r>
          </a:p>
        </p:txBody>
      </p:sp>
      <p:sp>
        <p:nvSpPr>
          <p:cNvPr id="25" name="TextBox 24"/>
          <p:cNvSpPr txBox="1"/>
          <p:nvPr/>
        </p:nvSpPr>
        <p:spPr>
          <a:xfrm>
            <a:off x="457200" y="6035040"/>
            <a:ext cx="10972800" cy="457200"/>
          </a:xfrm>
          <a:prstGeom prst="rect">
            <a:avLst/>
          </a:prstGeom>
          <a:noFill/>
        </p:spPr>
        <p:txBody>
          <a:bodyPr wrap="square">
            <a:spAutoFit/>
          </a:bodyPr>
          <a:lstStyle/>
          <a:p>
            <a:pPr algn="ctr"/>
            <a:r>
              <a:rPr sz="1300" b="1" i="0">
                <a:solidFill>
                  <a:srgbClr val="C9A44A"/>
                </a:solidFill>
                <a:latin typeface="Calibri"/>
              </a:rPr>
              <a:t>→ Vecteur 7D stocké en MongoDB · réutilisé directement par train.py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0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640080"/>
          </a:xfrm>
          <a:prstGeom prst="rect">
            <a:avLst/>
          </a:prstGeom>
          <a:noFill/>
        </p:spPr>
        <p:txBody>
          <a:bodyPr wrap="square">
            <a:spAutoFit/>
          </a:bodyPr>
          <a:lstStyle/>
          <a:p>
            <a:pPr algn="l"/>
            <a:r>
              <a:rPr sz="2800" b="1" i="0">
                <a:solidFill>
                  <a:srgbClr val="FFFFFF"/>
                </a:solidFill>
                <a:latin typeface="Calibri"/>
              </a:rPr>
              <a:t>Versioning des datasets</a:t>
            </a:r>
          </a:p>
        </p:txBody>
      </p:sp>
      <p:sp>
        <p:nvSpPr>
          <p:cNvPr id="4" name="TextBox 3"/>
          <p:cNvSpPr txBox="1"/>
          <p:nvPr/>
        </p:nvSpPr>
        <p:spPr>
          <a:xfrm>
            <a:off x="457200" y="1234440"/>
            <a:ext cx="11247120" cy="365760"/>
          </a:xfrm>
          <a:prstGeom prst="rect">
            <a:avLst/>
          </a:prstGeom>
          <a:noFill/>
        </p:spPr>
        <p:txBody>
          <a:bodyPr wrap="square">
            <a:spAutoFit/>
          </a:bodyPr>
          <a:lstStyle/>
          <a:p>
            <a:pPr algn="l"/>
            <a:r>
              <a:rPr sz="1300" b="0" i="1">
                <a:solidFill>
                  <a:srgbClr val="AAAAAA"/>
                </a:solidFill>
                <a:latin typeface="Calibri"/>
              </a:rPr>
              <a:t>Snapshots immuables · reproductibilité garantie</a:t>
            </a:r>
          </a:p>
        </p:txBody>
      </p:sp>
      <p:sp>
        <p:nvSpPr>
          <p:cNvPr id="5" name="Rectangle 4"/>
          <p:cNvSpPr/>
          <p:nvPr/>
        </p:nvSpPr>
        <p:spPr>
          <a:xfrm>
            <a:off x="731520" y="1737360"/>
            <a:ext cx="2468880" cy="822960"/>
          </a:xfrm>
          <a:prstGeom prst="rect">
            <a:avLst/>
          </a:prstGeom>
          <a:solidFill>
            <a:srgbClr val="10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640080" cy="731520"/>
          </a:xfrm>
          <a:prstGeom prst="rect">
            <a:avLst/>
          </a:prstGeom>
          <a:noFill/>
        </p:spPr>
        <p:txBody>
          <a:bodyPr wrap="square">
            <a:spAutoFit/>
          </a:bodyPr>
          <a:lstStyle/>
          <a:p>
            <a:pPr algn="l"/>
            <a:r>
              <a:rPr sz="2600" b="1" i="0">
                <a:solidFill>
                  <a:srgbClr val="C9A44A"/>
                </a:solidFill>
                <a:latin typeface="Calibri"/>
              </a:rPr>
              <a:t>1</a:t>
            </a:r>
          </a:p>
        </p:txBody>
      </p:sp>
      <p:sp>
        <p:nvSpPr>
          <p:cNvPr id="7" name="TextBox 6"/>
          <p:cNvSpPr txBox="1"/>
          <p:nvPr/>
        </p:nvSpPr>
        <p:spPr>
          <a:xfrm>
            <a:off x="1508760" y="1828800"/>
            <a:ext cx="1645920" cy="731520"/>
          </a:xfrm>
          <a:prstGeom prst="rect">
            <a:avLst/>
          </a:prstGeom>
          <a:noFill/>
        </p:spPr>
        <p:txBody>
          <a:bodyPr wrap="square">
            <a:spAutoFit/>
          </a:bodyPr>
          <a:lstStyle/>
          <a:p>
            <a:pPr algn="l"/>
            <a:r>
              <a:rPr sz="1200" b="0" i="0">
                <a:solidFill>
                  <a:srgbClr val="FFFFFF"/>
                </a:solidFill>
                <a:latin typeface="Calibri"/>
              </a:rPr>
              <a:t>Créer une version</a:t>
            </a:r>
          </a:p>
        </p:txBody>
      </p:sp>
      <p:sp>
        <p:nvSpPr>
          <p:cNvPr id="8" name="Rectangle 7"/>
          <p:cNvSpPr/>
          <p:nvPr/>
        </p:nvSpPr>
        <p:spPr>
          <a:xfrm>
            <a:off x="3566160" y="1737360"/>
            <a:ext cx="2468880" cy="822960"/>
          </a:xfrm>
          <a:prstGeom prst="rect">
            <a:avLst/>
          </a:prstGeom>
          <a:solidFill>
            <a:srgbClr val="10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03320" y="1783080"/>
            <a:ext cx="640080" cy="731520"/>
          </a:xfrm>
          <a:prstGeom prst="rect">
            <a:avLst/>
          </a:prstGeom>
          <a:noFill/>
        </p:spPr>
        <p:txBody>
          <a:bodyPr wrap="square">
            <a:spAutoFit/>
          </a:bodyPr>
          <a:lstStyle/>
          <a:p>
            <a:pPr algn="l"/>
            <a:r>
              <a:rPr sz="2600" b="1" i="0">
                <a:solidFill>
                  <a:srgbClr val="C9A44A"/>
                </a:solidFill>
                <a:latin typeface="Calibri"/>
              </a:rPr>
              <a:t>2</a:t>
            </a:r>
          </a:p>
        </p:txBody>
      </p:sp>
      <p:sp>
        <p:nvSpPr>
          <p:cNvPr id="10" name="TextBox 9"/>
          <p:cNvSpPr txBox="1"/>
          <p:nvPr/>
        </p:nvSpPr>
        <p:spPr>
          <a:xfrm>
            <a:off x="4343400" y="1828800"/>
            <a:ext cx="1645920" cy="731520"/>
          </a:xfrm>
          <a:prstGeom prst="rect">
            <a:avLst/>
          </a:prstGeom>
          <a:noFill/>
        </p:spPr>
        <p:txBody>
          <a:bodyPr wrap="square">
            <a:spAutoFit/>
          </a:bodyPr>
          <a:lstStyle/>
          <a:p>
            <a:pPr algn="l"/>
            <a:r>
              <a:rPr sz="1200" b="0" i="0">
                <a:solidFill>
                  <a:srgbClr val="FFFFFF"/>
                </a:solidFill>
                <a:latin typeface="Calibri"/>
              </a:rPr>
              <a:t>Sélection images éligibles</a:t>
            </a:r>
          </a:p>
        </p:txBody>
      </p:sp>
      <p:sp>
        <p:nvSpPr>
          <p:cNvPr id="11" name="Rectangle 10"/>
          <p:cNvSpPr/>
          <p:nvPr/>
        </p:nvSpPr>
        <p:spPr>
          <a:xfrm>
            <a:off x="6400800" y="1737360"/>
            <a:ext cx="2468880" cy="822960"/>
          </a:xfrm>
          <a:prstGeom prst="rect">
            <a:avLst/>
          </a:prstGeom>
          <a:solidFill>
            <a:srgbClr val="10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783080"/>
            <a:ext cx="640080" cy="731520"/>
          </a:xfrm>
          <a:prstGeom prst="rect">
            <a:avLst/>
          </a:prstGeom>
          <a:noFill/>
        </p:spPr>
        <p:txBody>
          <a:bodyPr wrap="square">
            <a:spAutoFit/>
          </a:bodyPr>
          <a:lstStyle/>
          <a:p>
            <a:pPr algn="l"/>
            <a:r>
              <a:rPr sz="2600" b="1" i="0">
                <a:solidFill>
                  <a:srgbClr val="C9A44A"/>
                </a:solidFill>
                <a:latin typeface="Calibri"/>
              </a:rPr>
              <a:t>3</a:t>
            </a:r>
          </a:p>
        </p:txBody>
      </p:sp>
      <p:sp>
        <p:nvSpPr>
          <p:cNvPr id="13" name="TextBox 12"/>
          <p:cNvSpPr txBox="1"/>
          <p:nvPr/>
        </p:nvSpPr>
        <p:spPr>
          <a:xfrm>
            <a:off x="7178040" y="1828800"/>
            <a:ext cx="1645920" cy="731520"/>
          </a:xfrm>
          <a:prstGeom prst="rect">
            <a:avLst/>
          </a:prstGeom>
          <a:noFill/>
        </p:spPr>
        <p:txBody>
          <a:bodyPr wrap="square">
            <a:spAutoFit/>
          </a:bodyPr>
          <a:lstStyle/>
          <a:p>
            <a:pPr algn="l"/>
            <a:r>
              <a:rPr sz="1200" b="0" i="0">
                <a:solidFill>
                  <a:srgbClr val="FFFFFF"/>
                </a:solidFill>
                <a:latin typeface="Calibri"/>
              </a:rPr>
              <a:t>Document DatasetVersion</a:t>
            </a:r>
          </a:p>
        </p:txBody>
      </p:sp>
      <p:sp>
        <p:nvSpPr>
          <p:cNvPr id="14" name="Rectangle 13"/>
          <p:cNvSpPr/>
          <p:nvPr/>
        </p:nvSpPr>
        <p:spPr>
          <a:xfrm>
            <a:off x="9235440" y="1737360"/>
            <a:ext cx="2468880" cy="822960"/>
          </a:xfrm>
          <a:prstGeom prst="rect">
            <a:avLst/>
          </a:prstGeom>
          <a:solidFill>
            <a:srgbClr val="10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72600" y="1783080"/>
            <a:ext cx="640080" cy="731520"/>
          </a:xfrm>
          <a:prstGeom prst="rect">
            <a:avLst/>
          </a:prstGeom>
          <a:noFill/>
        </p:spPr>
        <p:txBody>
          <a:bodyPr wrap="square">
            <a:spAutoFit/>
          </a:bodyPr>
          <a:lstStyle/>
          <a:p>
            <a:pPr algn="l"/>
            <a:r>
              <a:rPr sz="2600" b="1" i="0">
                <a:solidFill>
                  <a:srgbClr val="C9A44A"/>
                </a:solidFill>
                <a:latin typeface="Calibri"/>
              </a:rPr>
              <a:t>4</a:t>
            </a:r>
          </a:p>
        </p:txBody>
      </p:sp>
      <p:sp>
        <p:nvSpPr>
          <p:cNvPr id="16" name="TextBox 15"/>
          <p:cNvSpPr txBox="1"/>
          <p:nvPr/>
        </p:nvSpPr>
        <p:spPr>
          <a:xfrm>
            <a:off x="10012680" y="1828800"/>
            <a:ext cx="1645920" cy="731520"/>
          </a:xfrm>
          <a:prstGeom prst="rect">
            <a:avLst/>
          </a:prstGeom>
          <a:noFill/>
        </p:spPr>
        <p:txBody>
          <a:bodyPr wrap="square">
            <a:spAutoFit/>
          </a:bodyPr>
          <a:lstStyle/>
          <a:p>
            <a:pPr algn="l"/>
            <a:r>
              <a:rPr sz="1200" b="0" i="0">
                <a:solidFill>
                  <a:srgbClr val="FFFFFF"/>
                </a:solidFill>
                <a:latin typeface="Calibri"/>
              </a:rPr>
              <a:t>Export JSON</a:t>
            </a:r>
          </a:p>
        </p:txBody>
      </p:sp>
      <p:sp>
        <p:nvSpPr>
          <p:cNvPr id="17" name="TextBox 16"/>
          <p:cNvSpPr txBox="1"/>
          <p:nvPr/>
        </p:nvSpPr>
        <p:spPr>
          <a:xfrm>
            <a:off x="457200" y="3017520"/>
            <a:ext cx="10972800" cy="548640"/>
          </a:xfrm>
          <a:prstGeom prst="rect">
            <a:avLst/>
          </a:prstGeom>
          <a:noFill/>
        </p:spPr>
        <p:txBody>
          <a:bodyPr wrap="square">
            <a:spAutoFit/>
          </a:bodyPr>
          <a:lstStyle/>
          <a:p>
            <a:pPr algn="l"/>
            <a:r>
              <a:rPr sz="1400" b="0" i="0">
                <a:solidFill>
                  <a:srgbClr val="FFFFFF"/>
                </a:solidFill>
                <a:latin typeface="Calibri"/>
              </a:rPr>
              <a:t>▸  Versions numérotées (v1, v2…) et horodatées</a:t>
            </a:r>
          </a:p>
        </p:txBody>
      </p:sp>
      <p:sp>
        <p:nvSpPr>
          <p:cNvPr id="18" name="TextBox 17"/>
          <p:cNvSpPr txBox="1"/>
          <p:nvPr/>
        </p:nvSpPr>
        <p:spPr>
          <a:xfrm>
            <a:off x="457200" y="3520439"/>
            <a:ext cx="10972800" cy="548640"/>
          </a:xfrm>
          <a:prstGeom prst="rect">
            <a:avLst/>
          </a:prstGeom>
          <a:noFill/>
        </p:spPr>
        <p:txBody>
          <a:bodyPr wrap="square">
            <a:spAutoFit/>
          </a:bodyPr>
          <a:lstStyle/>
          <a:p>
            <a:pPr algn="l"/>
            <a:r>
              <a:rPr sz="1400" b="0" i="0">
                <a:solidFill>
                  <a:srgbClr val="FFFFFF"/>
                </a:solidFill>
                <a:latin typeface="Calibri"/>
              </a:rPr>
              <a:t>▸  Les images conservent la référence à leur version</a:t>
            </a:r>
          </a:p>
        </p:txBody>
      </p:sp>
      <p:sp>
        <p:nvSpPr>
          <p:cNvPr id="19" name="TextBox 18"/>
          <p:cNvSpPr txBox="1"/>
          <p:nvPr/>
        </p:nvSpPr>
        <p:spPr>
          <a:xfrm>
            <a:off x="457200" y="4023360"/>
            <a:ext cx="10972800" cy="548640"/>
          </a:xfrm>
          <a:prstGeom prst="rect">
            <a:avLst/>
          </a:prstGeom>
          <a:noFill/>
        </p:spPr>
        <p:txBody>
          <a:bodyPr wrap="square">
            <a:spAutoFit/>
          </a:bodyPr>
          <a:lstStyle/>
          <a:p>
            <a:pPr algn="l"/>
            <a:r>
              <a:rPr sz="1400" b="0" i="0">
                <a:solidFill>
                  <a:srgbClr val="FFFFFF"/>
                </a:solidFill>
                <a:latin typeface="Calibri"/>
              </a:rPr>
              <a:t>▸  Relancer train.py sur le même JSON → résultat identique</a:t>
            </a:r>
          </a:p>
        </p:txBody>
      </p:sp>
      <p:sp>
        <p:nvSpPr>
          <p:cNvPr id="20" name="TextBox 19"/>
          <p:cNvSpPr txBox="1"/>
          <p:nvPr/>
        </p:nvSpPr>
        <p:spPr>
          <a:xfrm>
            <a:off x="457200" y="4526280"/>
            <a:ext cx="10972800" cy="548640"/>
          </a:xfrm>
          <a:prstGeom prst="rect">
            <a:avLst/>
          </a:prstGeom>
          <a:noFill/>
        </p:spPr>
        <p:txBody>
          <a:bodyPr wrap="square">
            <a:spAutoFit/>
          </a:bodyPr>
          <a:lstStyle/>
          <a:p>
            <a:pPr algn="l"/>
            <a:r>
              <a:rPr sz="1400" b="0" i="0">
                <a:solidFill>
                  <a:srgbClr val="FFFFFF"/>
                </a:solidFill>
                <a:latin typeface="Calibri"/>
              </a:rPr>
              <a:t>▸  Historique complet des versions dans l'interface</a:t>
            </a:r>
          </a:p>
        </p:txBody>
      </p:sp>
      <p:sp>
        <p:nvSpPr>
          <p:cNvPr id="21" name="Rectangle 20"/>
          <p:cNvSpPr/>
          <p:nvPr/>
        </p:nvSpPr>
        <p:spPr>
          <a:xfrm>
            <a:off x="457200" y="5577840"/>
            <a:ext cx="11247120" cy="54864"/>
          </a:xfrm>
          <a:prstGeom prst="rect">
            <a:avLst/>
          </a:prstGeom>
          <a:solidFill>
            <a:srgbClr val="C9A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5760720"/>
            <a:ext cx="11247120" cy="457200"/>
          </a:xfrm>
          <a:prstGeom prst="rect">
            <a:avLst/>
          </a:prstGeom>
          <a:noFill/>
        </p:spPr>
        <p:txBody>
          <a:bodyPr wrap="square">
            <a:spAutoFit/>
          </a:bodyPr>
          <a:lstStyle/>
          <a:p>
            <a:pPr algn="ctr"/>
            <a:r>
              <a:rPr sz="1400" b="1" i="0">
                <a:solidFill>
                  <a:srgbClr val="C9A44A"/>
                </a:solidFill>
                <a:latin typeface="Calibri"/>
              </a:rPr>
              <a:t>Contrainte du projet respectée : versioning immuable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0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640080"/>
          </a:xfrm>
          <a:prstGeom prst="rect">
            <a:avLst/>
          </a:prstGeom>
          <a:noFill/>
        </p:spPr>
        <p:txBody>
          <a:bodyPr wrap="square">
            <a:spAutoFit/>
          </a:bodyPr>
          <a:lstStyle/>
          <a:p>
            <a:pPr algn="l"/>
            <a:r>
              <a:rPr sz="2800" b="1" i="0">
                <a:solidFill>
                  <a:srgbClr val="FFFFFF"/>
                </a:solidFill>
                <a:latin typeface="Calibri"/>
              </a:rPr>
              <a:t>Entraînement ML — train.py</a:t>
            </a:r>
          </a:p>
        </p:txBody>
      </p:sp>
      <p:pic>
        <p:nvPicPr>
          <p:cNvPr id="4" name="Picture 3" descr="ml_flow.png"/>
          <p:cNvPicPr>
            <a:picLocks noChangeAspect="1"/>
          </p:cNvPicPr>
          <p:nvPr/>
        </p:nvPicPr>
        <p:blipFill>
          <a:blip r:embed="rId2"/>
          <a:stretch>
            <a:fillRect/>
          </a:stretch>
        </p:blipFill>
        <p:spPr>
          <a:xfrm>
            <a:off x="640080" y="1280160"/>
            <a:ext cx="4206240" cy="5700303"/>
          </a:xfrm>
          <a:prstGeom prst="rect">
            <a:avLst/>
          </a:prstGeom>
        </p:spPr>
      </p:pic>
      <p:sp>
        <p:nvSpPr>
          <p:cNvPr id="5" name="TextBox 4"/>
          <p:cNvSpPr txBox="1"/>
          <p:nvPr/>
        </p:nvSpPr>
        <p:spPr>
          <a:xfrm>
            <a:off x="5486400" y="1371600"/>
            <a:ext cx="6217920" cy="365760"/>
          </a:xfrm>
          <a:prstGeom prst="rect">
            <a:avLst/>
          </a:prstGeom>
          <a:noFill/>
        </p:spPr>
        <p:txBody>
          <a:bodyPr wrap="square">
            <a:spAutoFit/>
          </a:bodyPr>
          <a:lstStyle/>
          <a:p>
            <a:pPr algn="l"/>
            <a:r>
              <a:rPr sz="1600" b="1" i="0">
                <a:solidFill>
                  <a:srgbClr val="C9A44A"/>
                </a:solidFill>
                <a:latin typeface="Calibri"/>
              </a:rPr>
              <a:t>Stratégie multi-label</a:t>
            </a:r>
          </a:p>
        </p:txBody>
      </p:sp>
      <p:sp>
        <p:nvSpPr>
          <p:cNvPr id="6" name="TextBox 5"/>
          <p:cNvSpPr txBox="1"/>
          <p:nvPr/>
        </p:nvSpPr>
        <p:spPr>
          <a:xfrm>
            <a:off x="5486400" y="1828800"/>
            <a:ext cx="6217920" cy="1463040"/>
          </a:xfrm>
          <a:prstGeom prst="rect">
            <a:avLst/>
          </a:prstGeom>
          <a:noFill/>
        </p:spPr>
        <p:txBody>
          <a:bodyPr wrap="square">
            <a:spAutoFit/>
          </a:bodyPr>
          <a:lstStyle/>
          <a:p>
            <a:pPr algn="l"/>
            <a:r>
              <a:rPr sz="1400" b="0" i="0">
                <a:solidFill>
                  <a:srgbClr val="FFFFFF"/>
                </a:solidFill>
                <a:latin typeface="Calibri"/>
              </a:rPr>
              <a:t>OneVsRestClassifier permet à une image de porter plusieurs labels :</a:t>
            </a:r>
          </a:p>
          <a:p>
            <a:pPr algn="l"/>
            <a:r>
              <a:rPr sz="1400" b="0" i="0">
                <a:solidFill>
                  <a:srgbClr val="FFFFFF"/>
                </a:solidFill>
                <a:latin typeface="Calibri"/>
              </a:rPr>
              <a:t/>
            </a:r>
          </a:p>
          <a:p>
            <a:pPr algn="l"/>
            <a:r>
              <a:rPr sz="1400" b="0" i="0">
                <a:solidFill>
                  <a:srgbClr val="FFFFFF"/>
                </a:solidFill>
                <a:latin typeface="Calibri"/>
              </a:rPr>
              <a:t>   ex : fade + barbe + adulte</a:t>
            </a:r>
          </a:p>
        </p:txBody>
      </p:sp>
      <p:sp>
        <p:nvSpPr>
          <p:cNvPr id="7" name="TextBox 6"/>
          <p:cNvSpPr txBox="1"/>
          <p:nvPr/>
        </p:nvSpPr>
        <p:spPr>
          <a:xfrm>
            <a:off x="5486400" y="3291840"/>
            <a:ext cx="6217920" cy="365760"/>
          </a:xfrm>
          <a:prstGeom prst="rect">
            <a:avLst/>
          </a:prstGeom>
          <a:noFill/>
        </p:spPr>
        <p:txBody>
          <a:bodyPr wrap="square">
            <a:spAutoFit/>
          </a:bodyPr>
          <a:lstStyle/>
          <a:p>
            <a:pPr algn="l"/>
            <a:r>
              <a:rPr sz="1600" b="1" i="0">
                <a:solidFill>
                  <a:srgbClr val="C9A44A"/>
                </a:solidFill>
                <a:latin typeface="Calibri"/>
              </a:rPr>
              <a:t>Paramètres</a:t>
            </a:r>
          </a:p>
        </p:txBody>
      </p:sp>
      <p:sp>
        <p:nvSpPr>
          <p:cNvPr id="8" name="TextBox 7"/>
          <p:cNvSpPr txBox="1"/>
          <p:nvPr/>
        </p:nvSpPr>
        <p:spPr>
          <a:xfrm>
            <a:off x="5486400" y="3749039"/>
            <a:ext cx="6217920" cy="457200"/>
          </a:xfrm>
          <a:prstGeom prst="rect">
            <a:avLst/>
          </a:prstGeom>
          <a:noFill/>
        </p:spPr>
        <p:txBody>
          <a:bodyPr wrap="square">
            <a:spAutoFit/>
          </a:bodyPr>
          <a:lstStyle/>
          <a:p>
            <a:pPr algn="l"/>
            <a:r>
              <a:rPr sz="1300" b="0" i="0">
                <a:solidFill>
                  <a:srgbClr val="FFFFFF"/>
                </a:solidFill>
                <a:latin typeface="Calibri"/>
              </a:rPr>
              <a:t>▸  n_estimators = 100</a:t>
            </a:r>
          </a:p>
        </p:txBody>
      </p:sp>
      <p:sp>
        <p:nvSpPr>
          <p:cNvPr id="9" name="TextBox 8"/>
          <p:cNvSpPr txBox="1"/>
          <p:nvPr/>
        </p:nvSpPr>
        <p:spPr>
          <a:xfrm>
            <a:off x="5486400" y="4160520"/>
            <a:ext cx="6217920" cy="457200"/>
          </a:xfrm>
          <a:prstGeom prst="rect">
            <a:avLst/>
          </a:prstGeom>
          <a:noFill/>
        </p:spPr>
        <p:txBody>
          <a:bodyPr wrap="square">
            <a:spAutoFit/>
          </a:bodyPr>
          <a:lstStyle/>
          <a:p>
            <a:pPr algn="l"/>
            <a:r>
              <a:rPr sz="1300" b="0" i="0">
                <a:solidFill>
                  <a:srgbClr val="FFFFFF"/>
                </a:solidFill>
                <a:latin typeface="Calibri"/>
              </a:rPr>
              <a:t>▸  test_size = 0.2 (80/20)</a:t>
            </a:r>
          </a:p>
        </p:txBody>
      </p:sp>
      <p:sp>
        <p:nvSpPr>
          <p:cNvPr id="10" name="TextBox 9"/>
          <p:cNvSpPr txBox="1"/>
          <p:nvPr/>
        </p:nvSpPr>
        <p:spPr>
          <a:xfrm>
            <a:off x="5486400" y="4572000"/>
            <a:ext cx="6217920" cy="457200"/>
          </a:xfrm>
          <a:prstGeom prst="rect">
            <a:avLst/>
          </a:prstGeom>
          <a:noFill/>
        </p:spPr>
        <p:txBody>
          <a:bodyPr wrap="square">
            <a:spAutoFit/>
          </a:bodyPr>
          <a:lstStyle/>
          <a:p>
            <a:pPr algn="l"/>
            <a:r>
              <a:rPr sz="1300" b="0" i="0">
                <a:solidFill>
                  <a:srgbClr val="FFFFFF"/>
                </a:solidFill>
                <a:latin typeface="Calibri"/>
              </a:rPr>
              <a:t>▸  random_state = 42</a:t>
            </a:r>
          </a:p>
        </p:txBody>
      </p:sp>
      <p:sp>
        <p:nvSpPr>
          <p:cNvPr id="11" name="Rectangle 10"/>
          <p:cNvSpPr/>
          <p:nvPr/>
        </p:nvSpPr>
        <p:spPr>
          <a:xfrm>
            <a:off x="5486400" y="5212080"/>
            <a:ext cx="6217920" cy="548640"/>
          </a:xfrm>
          <a:prstGeom prst="rect">
            <a:avLst/>
          </a:prstGeom>
          <a:solidFill>
            <a:srgbClr val="1414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0" y="5303520"/>
            <a:ext cx="5852160" cy="411480"/>
          </a:xfrm>
          <a:prstGeom prst="rect">
            <a:avLst/>
          </a:prstGeom>
          <a:noFill/>
        </p:spPr>
        <p:txBody>
          <a:bodyPr wrap="square">
            <a:spAutoFit/>
          </a:bodyPr>
          <a:lstStyle/>
          <a:p>
            <a:pPr algn="l"/>
            <a:r>
              <a:rPr sz="1300" b="0" i="0">
                <a:solidFill>
                  <a:srgbClr val="90EE90"/>
                </a:solidFill>
                <a:latin typeface="Calibri"/>
              </a:rPr>
              <a:t>py train.py dataset-v1.json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0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640080"/>
          </a:xfrm>
          <a:prstGeom prst="rect">
            <a:avLst/>
          </a:prstGeom>
          <a:noFill/>
        </p:spPr>
        <p:txBody>
          <a:bodyPr wrap="square">
            <a:spAutoFit/>
          </a:bodyPr>
          <a:lstStyle/>
          <a:p>
            <a:pPr algn="l"/>
            <a:r>
              <a:rPr sz="2800" b="1" i="0">
                <a:solidFill>
                  <a:srgbClr val="FFFFFF"/>
                </a:solidFill>
                <a:latin typeface="Calibri"/>
              </a:rPr>
              <a:t>Résultats &amp; qualité du dataset</a:t>
            </a:r>
          </a:p>
        </p:txBody>
      </p:sp>
      <p:pic>
        <p:nvPicPr>
          <p:cNvPr id="4" name="Picture 3" descr="labels_dist.png"/>
          <p:cNvPicPr>
            <a:picLocks noChangeAspect="1"/>
          </p:cNvPicPr>
          <p:nvPr/>
        </p:nvPicPr>
        <p:blipFill>
          <a:blip r:embed="rId2"/>
          <a:stretch>
            <a:fillRect/>
          </a:stretch>
        </p:blipFill>
        <p:spPr>
          <a:xfrm>
            <a:off x="548640" y="1371600"/>
            <a:ext cx="6035040" cy="3766710"/>
          </a:xfrm>
          <a:prstGeom prst="rect">
            <a:avLst/>
          </a:prstGeom>
        </p:spPr>
      </p:pic>
      <p:sp>
        <p:nvSpPr>
          <p:cNvPr id="5" name="TextBox 4"/>
          <p:cNvSpPr txBox="1"/>
          <p:nvPr/>
        </p:nvSpPr>
        <p:spPr>
          <a:xfrm>
            <a:off x="6766560" y="1371600"/>
            <a:ext cx="5029200" cy="365760"/>
          </a:xfrm>
          <a:prstGeom prst="rect">
            <a:avLst/>
          </a:prstGeom>
          <a:noFill/>
        </p:spPr>
        <p:txBody>
          <a:bodyPr wrap="square">
            <a:spAutoFit/>
          </a:bodyPr>
          <a:lstStyle/>
          <a:p>
            <a:pPr algn="l"/>
            <a:r>
              <a:rPr sz="1500" b="1" i="0">
                <a:solidFill>
                  <a:srgbClr val="C9A44A"/>
                </a:solidFill>
                <a:latin typeface="Calibri"/>
              </a:rPr>
              <a:t>Métriques générées</a:t>
            </a:r>
          </a:p>
        </p:txBody>
      </p:sp>
      <p:sp>
        <p:nvSpPr>
          <p:cNvPr id="6" name="TextBox 5"/>
          <p:cNvSpPr txBox="1"/>
          <p:nvPr/>
        </p:nvSpPr>
        <p:spPr>
          <a:xfrm>
            <a:off x="6766560" y="1783080"/>
            <a:ext cx="5029200" cy="457200"/>
          </a:xfrm>
          <a:prstGeom prst="rect">
            <a:avLst/>
          </a:prstGeom>
          <a:noFill/>
        </p:spPr>
        <p:txBody>
          <a:bodyPr wrap="square">
            <a:spAutoFit/>
          </a:bodyPr>
          <a:lstStyle/>
          <a:p>
            <a:pPr algn="l"/>
            <a:r>
              <a:rPr sz="1300" b="0" i="0">
                <a:solidFill>
                  <a:srgbClr val="FFFFFF"/>
                </a:solidFill>
                <a:latin typeface="Calibri"/>
              </a:rPr>
              <a:t>▸  Accuracy exacte</a:t>
            </a:r>
          </a:p>
        </p:txBody>
      </p:sp>
      <p:sp>
        <p:nvSpPr>
          <p:cNvPr id="7" name="TextBox 6"/>
          <p:cNvSpPr txBox="1"/>
          <p:nvPr/>
        </p:nvSpPr>
        <p:spPr>
          <a:xfrm>
            <a:off x="6766560" y="2194560"/>
            <a:ext cx="5029200" cy="457200"/>
          </a:xfrm>
          <a:prstGeom prst="rect">
            <a:avLst/>
          </a:prstGeom>
          <a:noFill/>
        </p:spPr>
        <p:txBody>
          <a:bodyPr wrap="square">
            <a:spAutoFit/>
          </a:bodyPr>
          <a:lstStyle/>
          <a:p>
            <a:pPr algn="l"/>
            <a:r>
              <a:rPr sz="1300" b="0" i="0">
                <a:solidFill>
                  <a:srgbClr val="FFFFFF"/>
                </a:solidFill>
                <a:latin typeface="Calibri"/>
              </a:rPr>
              <a:t>▸  Precision / Recall / F1 par label</a:t>
            </a:r>
          </a:p>
        </p:txBody>
      </p:sp>
      <p:sp>
        <p:nvSpPr>
          <p:cNvPr id="8" name="TextBox 7"/>
          <p:cNvSpPr txBox="1"/>
          <p:nvPr/>
        </p:nvSpPr>
        <p:spPr>
          <a:xfrm>
            <a:off x="6766560" y="2606040"/>
            <a:ext cx="5029200" cy="457200"/>
          </a:xfrm>
          <a:prstGeom prst="rect">
            <a:avLst/>
          </a:prstGeom>
          <a:noFill/>
        </p:spPr>
        <p:txBody>
          <a:bodyPr wrap="square">
            <a:spAutoFit/>
          </a:bodyPr>
          <a:lstStyle/>
          <a:p>
            <a:pPr algn="l"/>
            <a:r>
              <a:rPr sz="1300" b="0" i="0">
                <a:solidFill>
                  <a:srgbClr val="FFFFFF"/>
                </a:solidFill>
                <a:latin typeface="Calibri"/>
              </a:rPr>
              <a:t>▸  Support par label</a:t>
            </a:r>
          </a:p>
        </p:txBody>
      </p:sp>
      <p:sp>
        <p:nvSpPr>
          <p:cNvPr id="9" name="TextBox 8"/>
          <p:cNvSpPr txBox="1"/>
          <p:nvPr/>
        </p:nvSpPr>
        <p:spPr>
          <a:xfrm>
            <a:off x="6766560" y="3200400"/>
            <a:ext cx="5029200" cy="365760"/>
          </a:xfrm>
          <a:prstGeom prst="rect">
            <a:avLst/>
          </a:prstGeom>
          <a:noFill/>
        </p:spPr>
        <p:txBody>
          <a:bodyPr wrap="square">
            <a:spAutoFit/>
          </a:bodyPr>
          <a:lstStyle/>
          <a:p>
            <a:pPr algn="l"/>
            <a:r>
              <a:rPr sz="1500" b="1" i="0">
                <a:solidFill>
                  <a:srgbClr val="C9A44A"/>
                </a:solidFill>
                <a:latin typeface="Calibri"/>
              </a:rPr>
              <a:t>Contexte</a:t>
            </a:r>
          </a:p>
        </p:txBody>
      </p:sp>
      <p:sp>
        <p:nvSpPr>
          <p:cNvPr id="10" name="TextBox 9"/>
          <p:cNvSpPr txBox="1"/>
          <p:nvPr/>
        </p:nvSpPr>
        <p:spPr>
          <a:xfrm>
            <a:off x="6766560" y="3611880"/>
            <a:ext cx="5029200" cy="502920"/>
          </a:xfrm>
          <a:prstGeom prst="rect">
            <a:avLst/>
          </a:prstGeom>
          <a:noFill/>
        </p:spPr>
        <p:txBody>
          <a:bodyPr wrap="square">
            <a:spAutoFit/>
          </a:bodyPr>
          <a:lstStyle/>
          <a:p>
            <a:pPr algn="l"/>
            <a:r>
              <a:rPr sz="1300" b="0" i="0">
                <a:solidFill>
                  <a:srgbClr val="FFFFFF"/>
                </a:solidFill>
                <a:latin typeface="Calibri"/>
              </a:rPr>
              <a:t>▸  Dataset prototype : 9 images</a:t>
            </a:r>
          </a:p>
        </p:txBody>
      </p:sp>
      <p:sp>
        <p:nvSpPr>
          <p:cNvPr id="11" name="TextBox 10"/>
          <p:cNvSpPr txBox="1"/>
          <p:nvPr/>
        </p:nvSpPr>
        <p:spPr>
          <a:xfrm>
            <a:off x="6766560" y="4069080"/>
            <a:ext cx="5029200" cy="502920"/>
          </a:xfrm>
          <a:prstGeom prst="rect">
            <a:avLst/>
          </a:prstGeom>
          <a:noFill/>
        </p:spPr>
        <p:txBody>
          <a:bodyPr wrap="square">
            <a:spAutoFit/>
          </a:bodyPr>
          <a:lstStyle/>
          <a:p>
            <a:pPr algn="l"/>
            <a:r>
              <a:rPr sz="1300" b="0" i="0">
                <a:solidFill>
                  <a:srgbClr val="FFFFFF"/>
                </a:solidFill>
                <a:latin typeface="Calibri"/>
              </a:rPr>
              <a:t>▸  Performances limitées par la taille</a:t>
            </a:r>
          </a:p>
        </p:txBody>
      </p:sp>
      <p:sp>
        <p:nvSpPr>
          <p:cNvPr id="12" name="TextBox 11"/>
          <p:cNvSpPr txBox="1"/>
          <p:nvPr/>
        </p:nvSpPr>
        <p:spPr>
          <a:xfrm>
            <a:off x="6766560" y="4526280"/>
            <a:ext cx="5029200" cy="502920"/>
          </a:xfrm>
          <a:prstGeom prst="rect">
            <a:avLst/>
          </a:prstGeom>
          <a:noFill/>
        </p:spPr>
        <p:txBody>
          <a:bodyPr wrap="square">
            <a:spAutoFit/>
          </a:bodyPr>
          <a:lstStyle/>
          <a:p>
            <a:pPr algn="l"/>
            <a:r>
              <a:rPr sz="1300" b="0" i="0">
                <a:solidFill>
                  <a:srgbClr val="FFFFFF"/>
                </a:solidFill>
                <a:latin typeface="Calibri"/>
              </a:rPr>
              <a:t>▸  Architecture scalable sans toucher au code</a:t>
            </a:r>
          </a:p>
        </p:txBody>
      </p:sp>
      <p:sp>
        <p:nvSpPr>
          <p:cNvPr id="13" name="Rectangle 12"/>
          <p:cNvSpPr/>
          <p:nvPr/>
        </p:nvSpPr>
        <p:spPr>
          <a:xfrm>
            <a:off x="6766560" y="5486400"/>
            <a:ext cx="5029200" cy="54864"/>
          </a:xfrm>
          <a:prstGeom prst="rect">
            <a:avLst/>
          </a:prstGeom>
          <a:solidFill>
            <a:srgbClr val="C9A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5623560"/>
            <a:ext cx="5029200" cy="457200"/>
          </a:xfrm>
          <a:prstGeom prst="rect">
            <a:avLst/>
          </a:prstGeom>
          <a:noFill/>
        </p:spPr>
        <p:txBody>
          <a:bodyPr wrap="square">
            <a:spAutoFit/>
          </a:bodyPr>
          <a:lstStyle/>
          <a:p>
            <a:pPr algn="l"/>
            <a:r>
              <a:rPr sz="1400" b="1" i="0">
                <a:solidFill>
                  <a:srgbClr val="C9A44A"/>
                </a:solidFill>
                <a:latin typeface="Calibri"/>
              </a:rPr>
              <a:t>Plus de données → meilleur modèle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0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640080"/>
          </a:xfrm>
          <a:prstGeom prst="rect">
            <a:avLst/>
          </a:prstGeom>
          <a:noFill/>
        </p:spPr>
        <p:txBody>
          <a:bodyPr wrap="square">
            <a:spAutoFit/>
          </a:bodyPr>
          <a:lstStyle/>
          <a:p>
            <a:pPr algn="l"/>
            <a:r>
              <a:rPr sz="2800" b="1" i="0">
                <a:solidFill>
                  <a:srgbClr val="FFFFFF"/>
                </a:solidFill>
                <a:latin typeface="Calibri"/>
              </a:rPr>
              <a:t>Recommandation client — « Ma Coupe Idéale »</a:t>
            </a:r>
          </a:p>
        </p:txBody>
      </p:sp>
      <p:pic>
        <p:nvPicPr>
          <p:cNvPr id="4" name="Picture 3" descr="reco_flow.png"/>
          <p:cNvPicPr>
            <a:picLocks noChangeAspect="1"/>
          </p:cNvPicPr>
          <p:nvPr/>
        </p:nvPicPr>
        <p:blipFill>
          <a:blip r:embed="rId2"/>
          <a:stretch>
            <a:fillRect/>
          </a:stretch>
        </p:blipFill>
        <p:spPr>
          <a:xfrm>
            <a:off x="640080" y="1325880"/>
            <a:ext cx="10881360" cy="3057269"/>
          </a:xfrm>
          <a:prstGeom prst="rect">
            <a:avLst/>
          </a:prstGeom>
        </p:spPr>
      </p:pic>
      <p:sp>
        <p:nvSpPr>
          <p:cNvPr id="5" name="TextBox 4"/>
          <p:cNvSpPr txBox="1"/>
          <p:nvPr/>
        </p:nvSpPr>
        <p:spPr>
          <a:xfrm>
            <a:off x="548640" y="3931920"/>
            <a:ext cx="5486400" cy="365760"/>
          </a:xfrm>
          <a:prstGeom prst="rect">
            <a:avLst/>
          </a:prstGeom>
          <a:noFill/>
        </p:spPr>
        <p:txBody>
          <a:bodyPr wrap="square">
            <a:spAutoFit/>
          </a:bodyPr>
          <a:lstStyle/>
          <a:p>
            <a:pPr algn="l"/>
            <a:r>
              <a:rPr sz="1400" b="1" i="0">
                <a:solidFill>
                  <a:srgbClr val="C9A44A"/>
                </a:solidFill>
                <a:latin typeface="Calibri"/>
              </a:rPr>
              <a:t>Forme du visage</a:t>
            </a:r>
          </a:p>
        </p:txBody>
      </p:sp>
      <p:sp>
        <p:nvSpPr>
          <p:cNvPr id="6" name="TextBox 5"/>
          <p:cNvSpPr txBox="1"/>
          <p:nvPr/>
        </p:nvSpPr>
        <p:spPr>
          <a:xfrm>
            <a:off x="548640" y="4343400"/>
            <a:ext cx="5394960" cy="374904"/>
          </a:xfrm>
          <a:prstGeom prst="rect">
            <a:avLst/>
          </a:prstGeom>
          <a:noFill/>
        </p:spPr>
        <p:txBody>
          <a:bodyPr wrap="square">
            <a:spAutoFit/>
          </a:bodyPr>
          <a:lstStyle/>
          <a:p>
            <a:pPr algn="l"/>
            <a:r>
              <a:rPr sz="1200" b="0" i="0">
                <a:solidFill>
                  <a:srgbClr val="FFFFFF"/>
                </a:solidFill>
                <a:latin typeface="Calibri"/>
              </a:rPr>
              <a:t>▸  Ovale → polyvalent</a:t>
            </a:r>
          </a:p>
        </p:txBody>
      </p:sp>
      <p:sp>
        <p:nvSpPr>
          <p:cNvPr id="7" name="TextBox 6"/>
          <p:cNvSpPr txBox="1"/>
          <p:nvPr/>
        </p:nvSpPr>
        <p:spPr>
          <a:xfrm>
            <a:off x="548640" y="4672584"/>
            <a:ext cx="5394960" cy="374904"/>
          </a:xfrm>
          <a:prstGeom prst="rect">
            <a:avLst/>
          </a:prstGeom>
          <a:noFill/>
        </p:spPr>
        <p:txBody>
          <a:bodyPr wrap="square">
            <a:spAutoFit/>
          </a:bodyPr>
          <a:lstStyle/>
          <a:p>
            <a:pPr algn="l"/>
            <a:r>
              <a:rPr sz="1200" b="0" i="0">
                <a:solidFill>
                  <a:srgbClr val="FFFFFF"/>
                </a:solidFill>
                <a:latin typeface="Calibri"/>
              </a:rPr>
              <a:t>▸  Ronde → fade, taper</a:t>
            </a:r>
          </a:p>
        </p:txBody>
      </p:sp>
      <p:sp>
        <p:nvSpPr>
          <p:cNvPr id="8" name="TextBox 7"/>
          <p:cNvSpPr txBox="1"/>
          <p:nvPr/>
        </p:nvSpPr>
        <p:spPr>
          <a:xfrm>
            <a:off x="548640" y="5001768"/>
            <a:ext cx="5394960" cy="374904"/>
          </a:xfrm>
          <a:prstGeom prst="rect">
            <a:avLst/>
          </a:prstGeom>
          <a:noFill/>
        </p:spPr>
        <p:txBody>
          <a:bodyPr wrap="square">
            <a:spAutoFit/>
          </a:bodyPr>
          <a:lstStyle/>
          <a:p>
            <a:pPr algn="l"/>
            <a:r>
              <a:rPr sz="1200" b="0" i="0">
                <a:solidFill>
                  <a:srgbClr val="FFFFFF"/>
                </a:solidFill>
                <a:latin typeface="Calibri"/>
              </a:rPr>
              <a:t>▸  Carrée → burst-fade, dégradé</a:t>
            </a:r>
          </a:p>
        </p:txBody>
      </p:sp>
      <p:sp>
        <p:nvSpPr>
          <p:cNvPr id="9" name="TextBox 8"/>
          <p:cNvSpPr txBox="1"/>
          <p:nvPr/>
        </p:nvSpPr>
        <p:spPr>
          <a:xfrm>
            <a:off x="548640" y="5330952"/>
            <a:ext cx="5394960" cy="374904"/>
          </a:xfrm>
          <a:prstGeom prst="rect">
            <a:avLst/>
          </a:prstGeom>
          <a:noFill/>
        </p:spPr>
        <p:txBody>
          <a:bodyPr wrap="square">
            <a:spAutoFit/>
          </a:bodyPr>
          <a:lstStyle/>
          <a:p>
            <a:pPr algn="l"/>
            <a:r>
              <a:rPr sz="1200" b="0" i="0">
                <a:solidFill>
                  <a:srgbClr val="FFFFFF"/>
                </a:solidFill>
                <a:latin typeface="Calibri"/>
              </a:rPr>
              <a:t>▸  Cœur → dégradé, taper</a:t>
            </a:r>
          </a:p>
        </p:txBody>
      </p:sp>
      <p:sp>
        <p:nvSpPr>
          <p:cNvPr id="10" name="TextBox 9"/>
          <p:cNvSpPr txBox="1"/>
          <p:nvPr/>
        </p:nvSpPr>
        <p:spPr>
          <a:xfrm>
            <a:off x="548640" y="5660136"/>
            <a:ext cx="5394960" cy="374904"/>
          </a:xfrm>
          <a:prstGeom prst="rect">
            <a:avLst/>
          </a:prstGeom>
          <a:noFill/>
        </p:spPr>
        <p:txBody>
          <a:bodyPr wrap="square">
            <a:spAutoFit/>
          </a:bodyPr>
          <a:lstStyle/>
          <a:p>
            <a:pPr algn="l"/>
            <a:r>
              <a:rPr sz="1200" b="0" i="0">
                <a:solidFill>
                  <a:srgbClr val="FFFFFF"/>
                </a:solidFill>
                <a:latin typeface="Calibri"/>
              </a:rPr>
              <a:t>▸  Oblongue → volume côtés</a:t>
            </a:r>
          </a:p>
        </p:txBody>
      </p:sp>
      <p:sp>
        <p:nvSpPr>
          <p:cNvPr id="11" name="TextBox 10"/>
          <p:cNvSpPr txBox="1"/>
          <p:nvPr/>
        </p:nvSpPr>
        <p:spPr>
          <a:xfrm>
            <a:off x="6400800" y="3931920"/>
            <a:ext cx="5303520" cy="365760"/>
          </a:xfrm>
          <a:prstGeom prst="rect">
            <a:avLst/>
          </a:prstGeom>
          <a:noFill/>
        </p:spPr>
        <p:txBody>
          <a:bodyPr wrap="square">
            <a:spAutoFit/>
          </a:bodyPr>
          <a:lstStyle/>
          <a:p>
            <a:pPr algn="l"/>
            <a:r>
              <a:rPr sz="1400" b="1" i="0">
                <a:solidFill>
                  <a:srgbClr val="C9A44A"/>
                </a:solidFill>
                <a:latin typeface="Calibri"/>
              </a:rPr>
              <a:t>Teinte de peau</a:t>
            </a:r>
          </a:p>
        </p:txBody>
      </p:sp>
      <p:sp>
        <p:nvSpPr>
          <p:cNvPr id="12" name="TextBox 11"/>
          <p:cNvSpPr txBox="1"/>
          <p:nvPr/>
        </p:nvSpPr>
        <p:spPr>
          <a:xfrm>
            <a:off x="6400800" y="4343400"/>
            <a:ext cx="5303520" cy="429768"/>
          </a:xfrm>
          <a:prstGeom prst="rect">
            <a:avLst/>
          </a:prstGeom>
          <a:noFill/>
        </p:spPr>
        <p:txBody>
          <a:bodyPr wrap="square">
            <a:spAutoFit/>
          </a:bodyPr>
          <a:lstStyle/>
          <a:p>
            <a:pPr algn="l"/>
            <a:r>
              <a:rPr sz="1200" b="0" i="0">
                <a:solidFill>
                  <a:srgbClr val="FFFFFF"/>
                </a:solidFill>
                <a:latin typeface="Calibri"/>
              </a:rPr>
              <a:t>▸  Clair → styles lisses (fade, taper)</a:t>
            </a:r>
          </a:p>
        </p:txBody>
      </p:sp>
      <p:sp>
        <p:nvSpPr>
          <p:cNvPr id="13" name="TextBox 12"/>
          <p:cNvSpPr txBox="1"/>
          <p:nvPr/>
        </p:nvSpPr>
        <p:spPr>
          <a:xfrm>
            <a:off x="6400800" y="4727448"/>
            <a:ext cx="5303520" cy="429768"/>
          </a:xfrm>
          <a:prstGeom prst="rect">
            <a:avLst/>
          </a:prstGeom>
          <a:noFill/>
        </p:spPr>
        <p:txBody>
          <a:bodyPr wrap="square">
            <a:spAutoFit/>
          </a:bodyPr>
          <a:lstStyle/>
          <a:p>
            <a:pPr algn="l"/>
            <a:r>
              <a:rPr sz="1200" b="0" i="0">
                <a:solidFill>
                  <a:srgbClr val="FFFFFF"/>
                </a:solidFill>
                <a:latin typeface="Calibri"/>
              </a:rPr>
              <a:t>▸  Médium → tous les styles</a:t>
            </a:r>
          </a:p>
        </p:txBody>
      </p:sp>
      <p:sp>
        <p:nvSpPr>
          <p:cNvPr id="14" name="TextBox 13"/>
          <p:cNvSpPr txBox="1"/>
          <p:nvPr/>
        </p:nvSpPr>
        <p:spPr>
          <a:xfrm>
            <a:off x="6400800" y="5111496"/>
            <a:ext cx="5303520" cy="429768"/>
          </a:xfrm>
          <a:prstGeom prst="rect">
            <a:avLst/>
          </a:prstGeom>
          <a:noFill/>
        </p:spPr>
        <p:txBody>
          <a:bodyPr wrap="square">
            <a:spAutoFit/>
          </a:bodyPr>
          <a:lstStyle/>
          <a:p>
            <a:pPr algn="l"/>
            <a:r>
              <a:rPr sz="1200" b="0" i="0">
                <a:solidFill>
                  <a:srgbClr val="FFFFFF"/>
                </a:solidFill>
                <a:latin typeface="Calibri"/>
              </a:rPr>
              <a:t>▸  Foncé → afro, tresse, burst-fade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0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640080"/>
          </a:xfrm>
          <a:prstGeom prst="rect">
            <a:avLst/>
          </a:prstGeom>
          <a:noFill/>
        </p:spPr>
        <p:txBody>
          <a:bodyPr wrap="square">
            <a:spAutoFit/>
          </a:bodyPr>
          <a:lstStyle/>
          <a:p>
            <a:pPr algn="l"/>
            <a:r>
              <a:rPr sz="2800" b="1" i="0">
                <a:solidFill>
                  <a:srgbClr val="FFFFFF"/>
                </a:solidFill>
                <a:latin typeface="Calibri"/>
              </a:rPr>
              <a:t>Bonnes pratiques &amp; gouvernance</a:t>
            </a:r>
          </a:p>
        </p:txBody>
      </p:sp>
      <p:sp>
        <p:nvSpPr>
          <p:cNvPr id="4" name="Rectangle 3"/>
          <p:cNvSpPr/>
          <p:nvPr/>
        </p:nvSpPr>
        <p:spPr>
          <a:xfrm>
            <a:off x="365760" y="1325880"/>
            <a:ext cx="11430000" cy="109728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35607"/>
            <a:ext cx="10972800" cy="411480"/>
          </a:xfrm>
          <a:prstGeom prst="rect">
            <a:avLst/>
          </a:prstGeom>
          <a:noFill/>
        </p:spPr>
        <p:txBody>
          <a:bodyPr wrap="square">
            <a:spAutoFit/>
          </a:bodyPr>
          <a:lstStyle/>
          <a:p>
            <a:pPr algn="l"/>
            <a:r>
              <a:rPr sz="1500" b="1" i="0">
                <a:solidFill>
                  <a:srgbClr val="C9A44A"/>
                </a:solidFill>
                <a:latin typeface="Calibri"/>
              </a:rPr>
              <a:t>✓ Séparation fichiers / métadonnées</a:t>
            </a:r>
          </a:p>
        </p:txBody>
      </p:sp>
      <p:sp>
        <p:nvSpPr>
          <p:cNvPr id="6" name="TextBox 5"/>
          <p:cNvSpPr txBox="1"/>
          <p:nvPr/>
        </p:nvSpPr>
        <p:spPr>
          <a:xfrm>
            <a:off x="640080" y="1874519"/>
            <a:ext cx="10972800" cy="457200"/>
          </a:xfrm>
          <a:prstGeom prst="rect">
            <a:avLst/>
          </a:prstGeom>
          <a:noFill/>
        </p:spPr>
        <p:txBody>
          <a:bodyPr wrap="square">
            <a:spAutoFit/>
          </a:bodyPr>
          <a:lstStyle/>
          <a:p>
            <a:pPr algn="l"/>
            <a:r>
              <a:rPr sz="1200" b="0" i="0">
                <a:solidFill>
                  <a:srgbClr val="AAAAAA"/>
                </a:solidFill>
                <a:latin typeface="Calibri"/>
              </a:rPr>
              <a:t>Fichiers → disque · Métadonnées → MongoDB · migration S3/CDN possible</a:t>
            </a:r>
          </a:p>
        </p:txBody>
      </p:sp>
      <p:sp>
        <p:nvSpPr>
          <p:cNvPr id="7" name="Rectangle 6"/>
          <p:cNvSpPr/>
          <p:nvPr/>
        </p:nvSpPr>
        <p:spPr>
          <a:xfrm>
            <a:off x="365760" y="2606039"/>
            <a:ext cx="11430000" cy="109728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715768"/>
            <a:ext cx="10972800" cy="411480"/>
          </a:xfrm>
          <a:prstGeom prst="rect">
            <a:avLst/>
          </a:prstGeom>
          <a:noFill/>
        </p:spPr>
        <p:txBody>
          <a:bodyPr wrap="square">
            <a:spAutoFit/>
          </a:bodyPr>
          <a:lstStyle/>
          <a:p>
            <a:pPr algn="l"/>
            <a:r>
              <a:rPr sz="1500" b="1" i="0">
                <a:solidFill>
                  <a:srgbClr val="C9A44A"/>
                </a:solidFill>
                <a:latin typeface="Calibri"/>
              </a:rPr>
              <a:t>✓ Versioning immuable</a:t>
            </a:r>
          </a:p>
        </p:txBody>
      </p:sp>
      <p:sp>
        <p:nvSpPr>
          <p:cNvPr id="9" name="TextBox 8"/>
          <p:cNvSpPr txBox="1"/>
          <p:nvPr/>
        </p:nvSpPr>
        <p:spPr>
          <a:xfrm>
            <a:off x="640080" y="3154679"/>
            <a:ext cx="10972800" cy="457200"/>
          </a:xfrm>
          <a:prstGeom prst="rect">
            <a:avLst/>
          </a:prstGeom>
          <a:noFill/>
        </p:spPr>
        <p:txBody>
          <a:bodyPr wrap="square">
            <a:spAutoFit/>
          </a:bodyPr>
          <a:lstStyle/>
          <a:p>
            <a:pPr algn="l"/>
            <a:r>
              <a:rPr sz="1200" b="0" i="0">
                <a:solidFill>
                  <a:srgbClr val="AAAAAA"/>
                </a:solidFill>
                <a:latin typeface="Calibri"/>
              </a:rPr>
              <a:t>Snapshots non modifiables · reproductibilité · auditabilité</a:t>
            </a:r>
          </a:p>
        </p:txBody>
      </p:sp>
      <p:sp>
        <p:nvSpPr>
          <p:cNvPr id="10" name="Rectangle 9"/>
          <p:cNvSpPr/>
          <p:nvPr/>
        </p:nvSpPr>
        <p:spPr>
          <a:xfrm>
            <a:off x="365760" y="3886200"/>
            <a:ext cx="11430000" cy="109728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995928"/>
            <a:ext cx="10972800" cy="411480"/>
          </a:xfrm>
          <a:prstGeom prst="rect">
            <a:avLst/>
          </a:prstGeom>
          <a:noFill/>
        </p:spPr>
        <p:txBody>
          <a:bodyPr wrap="square">
            <a:spAutoFit/>
          </a:bodyPr>
          <a:lstStyle/>
          <a:p>
            <a:pPr algn="l"/>
            <a:r>
              <a:rPr sz="1500" b="1" i="0">
                <a:solidFill>
                  <a:srgbClr val="C9A44A"/>
                </a:solidFill>
                <a:latin typeface="Calibri"/>
              </a:rPr>
              <a:t>✓ Sécurité &amp; authentification</a:t>
            </a:r>
          </a:p>
        </p:txBody>
      </p:sp>
      <p:sp>
        <p:nvSpPr>
          <p:cNvPr id="12" name="TextBox 11"/>
          <p:cNvSpPr txBox="1"/>
          <p:nvPr/>
        </p:nvSpPr>
        <p:spPr>
          <a:xfrm>
            <a:off x="640080" y="4434840"/>
            <a:ext cx="10972800" cy="457200"/>
          </a:xfrm>
          <a:prstGeom prst="rect">
            <a:avLst/>
          </a:prstGeom>
          <a:noFill/>
        </p:spPr>
        <p:txBody>
          <a:bodyPr wrap="square">
            <a:spAutoFit/>
          </a:bodyPr>
          <a:lstStyle/>
          <a:p>
            <a:pPr algn="l"/>
            <a:r>
              <a:rPr sz="1200" b="0" i="0">
                <a:solidFill>
                  <a:srgbClr val="AAAAAA"/>
                </a:solidFill>
                <a:latin typeface="Calibri"/>
              </a:rPr>
              <a:t>JWT + OAuth2 Google · rôles client/admin · Guards NestJS</a:t>
            </a:r>
          </a:p>
        </p:txBody>
      </p:sp>
      <p:sp>
        <p:nvSpPr>
          <p:cNvPr id="13" name="Rectangle 12"/>
          <p:cNvSpPr/>
          <p:nvPr/>
        </p:nvSpPr>
        <p:spPr>
          <a:xfrm>
            <a:off x="365760" y="5166359"/>
            <a:ext cx="11430000" cy="1097280"/>
          </a:xfrm>
          <a:prstGeom prst="rect">
            <a:avLst/>
          </a:prstGeom>
          <a:solidFill>
            <a:srgbClr val="121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276088"/>
            <a:ext cx="10972800" cy="411480"/>
          </a:xfrm>
          <a:prstGeom prst="rect">
            <a:avLst/>
          </a:prstGeom>
          <a:noFill/>
        </p:spPr>
        <p:txBody>
          <a:bodyPr wrap="square">
            <a:spAutoFit/>
          </a:bodyPr>
          <a:lstStyle/>
          <a:p>
            <a:pPr algn="l"/>
            <a:r>
              <a:rPr sz="1500" b="1" i="0">
                <a:solidFill>
                  <a:srgbClr val="C9A44A"/>
                </a:solidFill>
                <a:latin typeface="Calibri"/>
              </a:rPr>
              <a:t>✓ Protection des données (RGPD)</a:t>
            </a:r>
          </a:p>
        </p:txBody>
      </p:sp>
      <p:sp>
        <p:nvSpPr>
          <p:cNvPr id="15" name="TextBox 14"/>
          <p:cNvSpPr txBox="1"/>
          <p:nvPr/>
        </p:nvSpPr>
        <p:spPr>
          <a:xfrm>
            <a:off x="640080" y="5714999"/>
            <a:ext cx="10972800" cy="457200"/>
          </a:xfrm>
          <a:prstGeom prst="rect">
            <a:avLst/>
          </a:prstGeom>
          <a:noFill/>
        </p:spPr>
        <p:txBody>
          <a:bodyPr wrap="square">
            <a:spAutoFit/>
          </a:bodyPr>
          <a:lstStyle/>
          <a:p>
            <a:pPr algn="l"/>
            <a:r>
              <a:rPr sz="1200" b="0" i="0">
                <a:solidFill>
                  <a:srgbClr val="AAAAAA"/>
                </a:solidFill>
                <a:latin typeface="Calibri"/>
              </a:rPr>
              <a:t>MediaPipe in-browser · aucune donnée biométrique transmise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05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640080"/>
          </a:xfrm>
          <a:prstGeom prst="rect">
            <a:avLst/>
          </a:prstGeom>
          <a:noFill/>
        </p:spPr>
        <p:txBody>
          <a:bodyPr wrap="square">
            <a:spAutoFit/>
          </a:bodyPr>
          <a:lstStyle/>
          <a:p>
            <a:pPr algn="l"/>
            <a:r>
              <a:rPr sz="2800" b="1" i="0">
                <a:solidFill>
                  <a:srgbClr val="FFFFFF"/>
                </a:solidFill>
                <a:latin typeface="Calibri"/>
              </a:rPr>
              <a:t>Conclusion &amp; Perspectives</a:t>
            </a:r>
          </a:p>
        </p:txBody>
      </p:sp>
      <p:sp>
        <p:nvSpPr>
          <p:cNvPr id="4" name="TextBox 3"/>
          <p:cNvSpPr txBox="1"/>
          <p:nvPr/>
        </p:nvSpPr>
        <p:spPr>
          <a:xfrm>
            <a:off x="457200" y="1325880"/>
            <a:ext cx="5303520" cy="365760"/>
          </a:xfrm>
          <a:prstGeom prst="rect">
            <a:avLst/>
          </a:prstGeom>
          <a:noFill/>
        </p:spPr>
        <p:txBody>
          <a:bodyPr wrap="square">
            <a:spAutoFit/>
          </a:bodyPr>
          <a:lstStyle/>
          <a:p>
            <a:pPr algn="l"/>
            <a:r>
              <a:rPr sz="1600" b="1" i="0">
                <a:solidFill>
                  <a:srgbClr val="C9A44A"/>
                </a:solidFill>
                <a:latin typeface="Calibri"/>
              </a:rPr>
              <a:t>Réalisé</a:t>
            </a:r>
          </a:p>
        </p:txBody>
      </p:sp>
      <p:sp>
        <p:nvSpPr>
          <p:cNvPr id="5" name="TextBox 4"/>
          <p:cNvSpPr txBox="1"/>
          <p:nvPr/>
        </p:nvSpPr>
        <p:spPr>
          <a:xfrm>
            <a:off x="457200" y="1783080"/>
            <a:ext cx="5303520" cy="521208"/>
          </a:xfrm>
          <a:prstGeom prst="rect">
            <a:avLst/>
          </a:prstGeom>
          <a:noFill/>
        </p:spPr>
        <p:txBody>
          <a:bodyPr wrap="square">
            <a:spAutoFit/>
          </a:bodyPr>
          <a:lstStyle/>
          <a:p>
            <a:pPr algn="l"/>
            <a:r>
              <a:rPr sz="1300" b="0" i="0">
                <a:solidFill>
                  <a:srgbClr val="FFFFFF"/>
                </a:solidFill>
                <a:latin typeface="Calibri"/>
              </a:rPr>
              <a:t>▸  Pipeline complet (5 statuts)</a:t>
            </a:r>
          </a:p>
        </p:txBody>
      </p:sp>
      <p:sp>
        <p:nvSpPr>
          <p:cNvPr id="6" name="TextBox 5"/>
          <p:cNvSpPr txBox="1"/>
          <p:nvPr/>
        </p:nvSpPr>
        <p:spPr>
          <a:xfrm>
            <a:off x="457200" y="2258568"/>
            <a:ext cx="5303520" cy="521208"/>
          </a:xfrm>
          <a:prstGeom prst="rect">
            <a:avLst/>
          </a:prstGeom>
          <a:noFill/>
        </p:spPr>
        <p:txBody>
          <a:bodyPr wrap="square">
            <a:spAutoFit/>
          </a:bodyPr>
          <a:lstStyle/>
          <a:p>
            <a:pPr algn="l"/>
            <a:r>
              <a:rPr sz="1300" b="0" i="0">
                <a:solidFill>
                  <a:srgbClr val="FFFFFF"/>
                </a:solidFill>
                <a:latin typeface="Calibri"/>
              </a:rPr>
              <a:t>▸  Features automatiques (sharp)</a:t>
            </a:r>
          </a:p>
        </p:txBody>
      </p:sp>
      <p:sp>
        <p:nvSpPr>
          <p:cNvPr id="7" name="TextBox 6"/>
          <p:cNvSpPr txBox="1"/>
          <p:nvPr/>
        </p:nvSpPr>
        <p:spPr>
          <a:xfrm>
            <a:off x="457200" y="2734056"/>
            <a:ext cx="5303520" cy="521208"/>
          </a:xfrm>
          <a:prstGeom prst="rect">
            <a:avLst/>
          </a:prstGeom>
          <a:noFill/>
        </p:spPr>
        <p:txBody>
          <a:bodyPr wrap="square">
            <a:spAutoFit/>
          </a:bodyPr>
          <a:lstStyle/>
          <a:p>
            <a:pPr algn="l"/>
            <a:r>
              <a:rPr sz="1300" b="0" i="0">
                <a:solidFill>
                  <a:srgbClr val="FFFFFF"/>
                </a:solidFill>
                <a:latin typeface="Calibri"/>
              </a:rPr>
              <a:t>▸  Versioning immuable</a:t>
            </a:r>
          </a:p>
        </p:txBody>
      </p:sp>
      <p:sp>
        <p:nvSpPr>
          <p:cNvPr id="8" name="TextBox 7"/>
          <p:cNvSpPr txBox="1"/>
          <p:nvPr/>
        </p:nvSpPr>
        <p:spPr>
          <a:xfrm>
            <a:off x="457200" y="3209544"/>
            <a:ext cx="5303520" cy="521208"/>
          </a:xfrm>
          <a:prstGeom prst="rect">
            <a:avLst/>
          </a:prstGeom>
          <a:noFill/>
        </p:spPr>
        <p:txBody>
          <a:bodyPr wrap="square">
            <a:spAutoFit/>
          </a:bodyPr>
          <a:lstStyle/>
          <a:p>
            <a:pPr algn="l"/>
            <a:r>
              <a:rPr sz="1300" b="0" i="0">
                <a:solidFill>
                  <a:srgbClr val="FFFFFF"/>
                </a:solidFill>
                <a:latin typeface="Calibri"/>
              </a:rPr>
              <a:t>▸  ML train.py → model.pkl</a:t>
            </a:r>
          </a:p>
        </p:txBody>
      </p:sp>
      <p:sp>
        <p:nvSpPr>
          <p:cNvPr id="9" name="TextBox 8"/>
          <p:cNvSpPr txBox="1"/>
          <p:nvPr/>
        </p:nvSpPr>
        <p:spPr>
          <a:xfrm>
            <a:off x="457200" y="3685032"/>
            <a:ext cx="5303520" cy="521208"/>
          </a:xfrm>
          <a:prstGeom prst="rect">
            <a:avLst/>
          </a:prstGeom>
          <a:noFill/>
        </p:spPr>
        <p:txBody>
          <a:bodyPr wrap="square">
            <a:spAutoFit/>
          </a:bodyPr>
          <a:lstStyle/>
          <a:p>
            <a:pPr algn="l"/>
            <a:r>
              <a:rPr sz="1300" b="0" i="0">
                <a:solidFill>
                  <a:srgbClr val="FFFFFF"/>
                </a:solidFill>
                <a:latin typeface="Calibri"/>
              </a:rPr>
              <a:t>▸  Visualisation &amp; supervision</a:t>
            </a:r>
          </a:p>
        </p:txBody>
      </p:sp>
      <p:sp>
        <p:nvSpPr>
          <p:cNvPr id="10" name="TextBox 9"/>
          <p:cNvSpPr txBox="1"/>
          <p:nvPr/>
        </p:nvSpPr>
        <p:spPr>
          <a:xfrm>
            <a:off x="457200" y="4160520"/>
            <a:ext cx="5303520" cy="521208"/>
          </a:xfrm>
          <a:prstGeom prst="rect">
            <a:avLst/>
          </a:prstGeom>
          <a:noFill/>
        </p:spPr>
        <p:txBody>
          <a:bodyPr wrap="square">
            <a:spAutoFit/>
          </a:bodyPr>
          <a:lstStyle/>
          <a:p>
            <a:pPr algn="l"/>
            <a:r>
              <a:rPr sz="1300" b="0" i="0">
                <a:solidFill>
                  <a:srgbClr val="FFFFFF"/>
                </a:solidFill>
                <a:latin typeface="Calibri"/>
              </a:rPr>
              <a:t>▸  Recommandation IA (MediaPipe)</a:t>
            </a:r>
          </a:p>
        </p:txBody>
      </p:sp>
      <p:sp>
        <p:nvSpPr>
          <p:cNvPr id="11" name="TextBox 10"/>
          <p:cNvSpPr txBox="1"/>
          <p:nvPr/>
        </p:nvSpPr>
        <p:spPr>
          <a:xfrm>
            <a:off x="457200" y="4636008"/>
            <a:ext cx="5303520" cy="521208"/>
          </a:xfrm>
          <a:prstGeom prst="rect">
            <a:avLst/>
          </a:prstGeom>
          <a:noFill/>
        </p:spPr>
        <p:txBody>
          <a:bodyPr wrap="square">
            <a:spAutoFit/>
          </a:bodyPr>
          <a:lstStyle/>
          <a:p>
            <a:pPr algn="l"/>
            <a:r>
              <a:rPr sz="1300" b="0" i="0">
                <a:solidFill>
                  <a:srgbClr val="FFFFFF"/>
                </a:solidFill>
                <a:latin typeface="Calibri"/>
              </a:rPr>
              <a:t>▸  Séparation fichiers / métadonnées</a:t>
            </a:r>
          </a:p>
        </p:txBody>
      </p:sp>
      <p:sp>
        <p:nvSpPr>
          <p:cNvPr id="12" name="TextBox 11"/>
          <p:cNvSpPr txBox="1"/>
          <p:nvPr/>
        </p:nvSpPr>
        <p:spPr>
          <a:xfrm>
            <a:off x="6400800" y="1325880"/>
            <a:ext cx="5303520" cy="365760"/>
          </a:xfrm>
          <a:prstGeom prst="rect">
            <a:avLst/>
          </a:prstGeom>
          <a:noFill/>
        </p:spPr>
        <p:txBody>
          <a:bodyPr wrap="square">
            <a:spAutoFit/>
          </a:bodyPr>
          <a:lstStyle/>
          <a:p>
            <a:pPr algn="l"/>
            <a:r>
              <a:rPr sz="1600" b="1" i="0">
                <a:solidFill>
                  <a:srgbClr val="C9A44A"/>
                </a:solidFill>
                <a:latin typeface="Calibri"/>
              </a:rPr>
              <a:t>Perspectives</a:t>
            </a:r>
          </a:p>
        </p:txBody>
      </p:sp>
      <p:sp>
        <p:nvSpPr>
          <p:cNvPr id="13" name="TextBox 12"/>
          <p:cNvSpPr txBox="1"/>
          <p:nvPr/>
        </p:nvSpPr>
        <p:spPr>
          <a:xfrm>
            <a:off x="6400800" y="1783080"/>
            <a:ext cx="5303520" cy="521208"/>
          </a:xfrm>
          <a:prstGeom prst="rect">
            <a:avLst/>
          </a:prstGeom>
          <a:noFill/>
        </p:spPr>
        <p:txBody>
          <a:bodyPr wrap="square">
            <a:spAutoFit/>
          </a:bodyPr>
          <a:lstStyle/>
          <a:p>
            <a:pPr algn="l"/>
            <a:r>
              <a:rPr sz="1300" b="0" i="0">
                <a:solidFill>
                  <a:srgbClr val="FFFFFF"/>
                </a:solidFill>
                <a:latin typeface="Calibri"/>
              </a:rPr>
              <a:t>▸  100+ images par label</a:t>
            </a:r>
          </a:p>
        </p:txBody>
      </p:sp>
      <p:sp>
        <p:nvSpPr>
          <p:cNvPr id="14" name="TextBox 13"/>
          <p:cNvSpPr txBox="1"/>
          <p:nvPr/>
        </p:nvSpPr>
        <p:spPr>
          <a:xfrm>
            <a:off x="6400800" y="2258568"/>
            <a:ext cx="5303520" cy="521208"/>
          </a:xfrm>
          <a:prstGeom prst="rect">
            <a:avLst/>
          </a:prstGeom>
          <a:noFill/>
        </p:spPr>
        <p:txBody>
          <a:bodyPr wrap="square">
            <a:spAutoFit/>
          </a:bodyPr>
          <a:lstStyle/>
          <a:p>
            <a:pPr algn="l"/>
            <a:r>
              <a:rPr sz="1300" b="0" i="0">
                <a:solidFill>
                  <a:srgbClr val="FFFFFF"/>
                </a:solidFill>
                <a:latin typeface="Calibri"/>
              </a:rPr>
              <a:t>▸  Stockage cloud (S3, Cloudinary)</a:t>
            </a:r>
          </a:p>
        </p:txBody>
      </p:sp>
      <p:sp>
        <p:nvSpPr>
          <p:cNvPr id="15" name="TextBox 14"/>
          <p:cNvSpPr txBox="1"/>
          <p:nvPr/>
        </p:nvSpPr>
        <p:spPr>
          <a:xfrm>
            <a:off x="6400800" y="2734056"/>
            <a:ext cx="5303520" cy="521208"/>
          </a:xfrm>
          <a:prstGeom prst="rect">
            <a:avLst/>
          </a:prstGeom>
          <a:noFill/>
        </p:spPr>
        <p:txBody>
          <a:bodyPr wrap="square">
            <a:spAutoFit/>
          </a:bodyPr>
          <a:lstStyle/>
          <a:p>
            <a:pPr algn="l"/>
            <a:r>
              <a:rPr sz="1300" b="0" i="0">
                <a:solidFill>
                  <a:srgbClr val="FFFFFF"/>
                </a:solidFill>
                <a:latin typeface="Calibri"/>
              </a:rPr>
              <a:t>▸  API REST exposant model.pkl</a:t>
            </a:r>
          </a:p>
        </p:txBody>
      </p:sp>
      <p:sp>
        <p:nvSpPr>
          <p:cNvPr id="16" name="TextBox 15"/>
          <p:cNvSpPr txBox="1"/>
          <p:nvPr/>
        </p:nvSpPr>
        <p:spPr>
          <a:xfrm>
            <a:off x="6400800" y="3209544"/>
            <a:ext cx="5303520" cy="521208"/>
          </a:xfrm>
          <a:prstGeom prst="rect">
            <a:avLst/>
          </a:prstGeom>
          <a:noFill/>
        </p:spPr>
        <p:txBody>
          <a:bodyPr wrap="square">
            <a:spAutoFit/>
          </a:bodyPr>
          <a:lstStyle/>
          <a:p>
            <a:pPr algn="l"/>
            <a:r>
              <a:rPr sz="1300" b="0" i="0">
                <a:solidFill>
                  <a:srgbClr val="FFFFFF"/>
                </a:solidFill>
                <a:latin typeface="Calibri"/>
              </a:rPr>
              <a:t>▸  Réentraînement automatique</a:t>
            </a:r>
          </a:p>
        </p:txBody>
      </p:sp>
      <p:sp>
        <p:nvSpPr>
          <p:cNvPr id="17" name="TextBox 16"/>
          <p:cNvSpPr txBox="1"/>
          <p:nvPr/>
        </p:nvSpPr>
        <p:spPr>
          <a:xfrm>
            <a:off x="6400800" y="3685032"/>
            <a:ext cx="5303520" cy="521208"/>
          </a:xfrm>
          <a:prstGeom prst="rect">
            <a:avLst/>
          </a:prstGeom>
          <a:noFill/>
        </p:spPr>
        <p:txBody>
          <a:bodyPr wrap="square">
            <a:spAutoFit/>
          </a:bodyPr>
          <a:lstStyle/>
          <a:p>
            <a:pPr algn="l"/>
            <a:r>
              <a:rPr sz="1300" b="0" i="0">
                <a:solidFill>
                  <a:srgbClr val="FFFFFF"/>
                </a:solidFill>
                <a:latin typeface="Calibri"/>
              </a:rPr>
              <a:t>▸  CNN / Vision Transformer</a:t>
            </a:r>
          </a:p>
        </p:txBody>
      </p:sp>
      <p:sp>
        <p:nvSpPr>
          <p:cNvPr id="18" name="Rectangle 17"/>
          <p:cNvSpPr/>
          <p:nvPr/>
        </p:nvSpPr>
        <p:spPr>
          <a:xfrm>
            <a:off x="457200" y="5669280"/>
            <a:ext cx="11247120" cy="54864"/>
          </a:xfrm>
          <a:prstGeom prst="rect">
            <a:avLst/>
          </a:prstGeom>
          <a:solidFill>
            <a:srgbClr val="C9A4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5852160"/>
            <a:ext cx="11247120" cy="548640"/>
          </a:xfrm>
          <a:prstGeom prst="rect">
            <a:avLst/>
          </a:prstGeom>
          <a:noFill/>
        </p:spPr>
        <p:txBody>
          <a:bodyPr wrap="square">
            <a:spAutoFit/>
          </a:bodyPr>
          <a:lstStyle/>
          <a:p>
            <a:pPr algn="ctr"/>
            <a:r>
              <a:rPr sz="1400" b="1" i="0">
                <a:solidFill>
                  <a:srgbClr val="C9A44A"/>
                </a:solidFill>
                <a:latin typeface="Calibri"/>
              </a:rPr>
              <a:t>Architecture scalable : plus de données → meilleur modèle, sans modifier le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