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606040"/>
            <a:ext cx="12188952" cy="54864"/>
          </a:xfrm>
          <a:prstGeom prst="rect">
            <a:avLst/>
          </a:prstGeom>
          <a:solidFill>
            <a:srgbClr val="C9A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17520" y="91440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200" b="1" i="0">
                <a:solidFill>
                  <a:srgbClr val="FFFFFF"/>
                </a:solidFill>
                <a:latin typeface="Calibri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0" y="91440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1" i="0">
                <a:solidFill>
                  <a:srgbClr val="C9A44A"/>
                </a:solidFill>
                <a:latin typeface="Calibri"/>
              </a:rPr>
              <a:t>CUT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880360"/>
            <a:ext cx="121889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AAAAAA"/>
                </a:solidFill>
                <a:latin typeface="Calibri"/>
              </a:rPr>
              <a:t>Symphonie des données en flux continu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611880"/>
            <a:ext cx="121889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AAAAAA"/>
                </a:solidFill>
                <a:latin typeface="Calibri"/>
              </a:rPr>
              <a:t>Rapport technique — Master 1 IA — École 89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4160520"/>
            <a:ext cx="121889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777777"/>
                </a:solidFill>
                <a:latin typeface="Calibri"/>
              </a:rPr>
              <a:t>Amaury Guindon  ·  Intervenant : Najib AL AWAR  ·  2025–2026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05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Contexte &amp; Problématique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258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9A44A"/>
                </a:solidFill>
                <a:latin typeface="Calibri"/>
              </a:rPr>
              <a:t>Contexte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783080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▸  Barbershop fictif exploitant ses photos de coupe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40280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▸  Images labélisées : fade, afro, tresse, barbe…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97480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▸  Besoin : pipeline structuré alimentant un modèle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258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9A44A"/>
                </a:solidFill>
                <a:latin typeface="Calibri"/>
              </a:rPr>
              <a:t>Problématique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783080"/>
            <a:ext cx="5303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Comment collecter, labéliser et versionner des images tout en garantissant la traçabilité complète vers un modèle d'IA ?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5029200"/>
            <a:ext cx="11247120" cy="54864"/>
          </a:xfrm>
          <a:prstGeom prst="rect">
            <a:avLst/>
          </a:prstGeom>
          <a:solidFill>
            <a:srgbClr val="C9A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52120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C9A44A"/>
                </a:solidFill>
                <a:latin typeface="Calibri"/>
              </a:rPr>
              <a:t>Ingestion → Labélisation → Versioning → Entraînement → Recommandation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05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Architecture de la plateforme</a:t>
            </a:r>
          </a:p>
        </p:txBody>
      </p:sp>
      <p:pic>
        <p:nvPicPr>
          <p:cNvPr id="4" name="Picture 3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1325880"/>
            <a:ext cx="5760720" cy="3714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1264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9A44A"/>
                </a:solidFill>
                <a:latin typeface="Calibri"/>
              </a:rPr>
              <a:t>Séparation fichiers / métadonnées · ML offline + ML in-browser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05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Stack technique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325880"/>
            <a:ext cx="11430000" cy="603504"/>
          </a:xfrm>
          <a:prstGeom prst="rect">
            <a:avLst/>
          </a:prstGeom>
          <a:solidFill>
            <a:srgbClr val="141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9A44A"/>
                </a:solidFill>
                <a:latin typeface="Calibri"/>
              </a:rPr>
              <a:t>Frontend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31920" y="14173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Angular 17 — standalone, signals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2002536"/>
            <a:ext cx="11430000" cy="603504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093976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9A44A"/>
                </a:solidFill>
                <a:latin typeface="Calibri"/>
              </a:rPr>
              <a:t>Backend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2093976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NestJS + Mongoose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679191"/>
            <a:ext cx="11430000" cy="603504"/>
          </a:xfrm>
          <a:prstGeom prst="rect">
            <a:avLst/>
          </a:prstGeom>
          <a:solidFill>
            <a:srgbClr val="141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770632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9A44A"/>
                </a:solidFill>
                <a:latin typeface="Calibri"/>
              </a:rPr>
              <a:t>Base de données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0" y="2770632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MongoDB (base datacut)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355848"/>
            <a:ext cx="11430000" cy="603504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447288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9A44A"/>
                </a:solidFill>
                <a:latin typeface="Calibri"/>
              </a:rPr>
              <a:t>Feature extraction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3447288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sharp (Node.js)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4032504"/>
            <a:ext cx="11430000" cy="603504"/>
          </a:xfrm>
          <a:prstGeom prst="rect">
            <a:avLst/>
          </a:prstGeom>
          <a:solidFill>
            <a:srgbClr val="141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123944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9A44A"/>
                </a:solidFill>
                <a:latin typeface="Calibri"/>
              </a:rPr>
              <a:t>ML entraînement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31920" y="4123944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Python · scikit-learn · RandomForest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709160"/>
            <a:ext cx="11430000" cy="603504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480060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9A44A"/>
                </a:solidFill>
                <a:latin typeface="Calibri"/>
              </a:rPr>
              <a:t>ML client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1920" y="4800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MediaPipe Face Landmarker (WebAssembly)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5385816"/>
            <a:ext cx="11430000" cy="603504"/>
          </a:xfrm>
          <a:prstGeom prst="rect">
            <a:avLst/>
          </a:prstGeom>
          <a:solidFill>
            <a:srgbClr val="141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5477255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9A44A"/>
                </a:solidFill>
                <a:latin typeface="Calibri"/>
              </a:rPr>
              <a:t>Authentification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31920" y="5477255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JWT + OAuth2 Google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05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Schéma de base de données</a:t>
            </a:r>
          </a:p>
        </p:txBody>
      </p:sp>
      <p:pic>
        <p:nvPicPr>
          <p:cNvPr id="4" name="Picture 3" descr="db_sche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325880"/>
            <a:ext cx="9601200" cy="49093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30936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C9A44A"/>
                </a:solidFill>
                <a:latin typeface="Calibri"/>
              </a:rPr>
              <a:t>GalleryItem.datasetVersion → DatasetVersion.version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05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Pipeline de données — 5 statuts</a:t>
            </a:r>
          </a:p>
        </p:txBody>
      </p:sp>
      <p:pic>
        <p:nvPicPr>
          <p:cNvPr id="4" name="Picture 3" descr="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54480"/>
            <a:ext cx="10881360" cy="305726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749039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▸  RAW — NestJS + Multer reçoit le fichier, sharp extrait les features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▸  VALIDATED — vérification visuelle de la qualité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663440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▸  LABELED — 1 à N labels parmi 12 disponibles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120640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▸  PROCESSED — validation finale avant export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577840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▸  EXPORTED — image intégrée dans un snapshot versionné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05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Extraction automatique de features (sharp)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AAAAAA"/>
                </a:solidFill>
                <a:latin typeface="Calibri"/>
              </a:rPr>
              <a:t>À chaque upload — automatique, transparent pour l'admin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783080"/>
            <a:ext cx="10789920" cy="603504"/>
          </a:xfrm>
          <a:prstGeom prst="rect">
            <a:avLst/>
          </a:prstGeom>
          <a:solidFill>
            <a:srgbClr val="141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74519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9A44A"/>
                </a:solidFill>
                <a:latin typeface="Calibri"/>
              </a:rPr>
              <a:t>width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1874519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Largeur en pixels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74519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AAAAAA"/>
                </a:solidFill>
                <a:latin typeface="Calibri"/>
              </a:rPr>
              <a:t>1080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459736"/>
            <a:ext cx="10789920" cy="603504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551176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9A44A"/>
                </a:solidFill>
                <a:latin typeface="Calibri"/>
              </a:rPr>
              <a:t>height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551176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Hauteur en pixels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2551176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AAAAAA"/>
                </a:solidFill>
                <a:latin typeface="Calibri"/>
              </a:rPr>
              <a:t>1350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136391"/>
            <a:ext cx="10789920" cy="603504"/>
          </a:xfrm>
          <a:prstGeom prst="rect">
            <a:avLst/>
          </a:prstGeom>
          <a:solidFill>
            <a:srgbClr val="141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227832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9A44A"/>
                </a:solidFill>
                <a:latin typeface="Calibri"/>
              </a:rPr>
              <a:t>sizeKb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3227832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Taille du fichier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3227832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AAAAAA"/>
                </a:solidFill>
                <a:latin typeface="Calibri"/>
              </a:rPr>
              <a:t>312 Ko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813048"/>
            <a:ext cx="10789920" cy="603504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904487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9A44A"/>
                </a:solidFill>
                <a:latin typeface="Calibri"/>
              </a:rPr>
              <a:t>ratio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17520" y="3904487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Largeur / Hauteur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3904487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AAAAAA"/>
                </a:solidFill>
                <a:latin typeface="Calibri"/>
              </a:rPr>
              <a:t>0.80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489704"/>
            <a:ext cx="10789920" cy="603504"/>
          </a:xfrm>
          <a:prstGeom prst="rect">
            <a:avLst/>
          </a:prstGeom>
          <a:solidFill>
            <a:srgbClr val="141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4581144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9A44A"/>
                </a:solidFill>
                <a:latin typeface="Calibri"/>
              </a:rPr>
              <a:t>r, g, 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17520" y="4581144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Couleur dominante (RGB)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4581144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AAAAAA"/>
                </a:solidFill>
                <a:latin typeface="Calibri"/>
              </a:rPr>
              <a:t>142, 98, 67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0350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9A44A"/>
                </a:solidFill>
                <a:latin typeface="Calibri"/>
              </a:rPr>
              <a:t>→ Vecteur 7D stocké en MongoDB · réutilisé directement par train.py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05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Versioning des datasets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AAAAAA"/>
                </a:solidFill>
                <a:latin typeface="Calibri"/>
              </a:rPr>
              <a:t>Snapshots immuables · reproductibilité garantie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737360"/>
            <a:ext cx="2468880" cy="822960"/>
          </a:xfrm>
          <a:prstGeom prst="rect">
            <a:avLst/>
          </a:prstGeom>
          <a:solidFill>
            <a:srgbClr val="105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640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C9A44A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828800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Créer une version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3566160" y="1737360"/>
            <a:ext cx="2468880" cy="822960"/>
          </a:xfrm>
          <a:prstGeom prst="rect">
            <a:avLst/>
          </a:prstGeom>
          <a:solidFill>
            <a:srgbClr val="105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03320" y="1783080"/>
            <a:ext cx="640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C9A44A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1828800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Sélection images éligibles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737360"/>
            <a:ext cx="2468880" cy="822960"/>
          </a:xfrm>
          <a:prstGeom prst="rect">
            <a:avLst/>
          </a:prstGeom>
          <a:solidFill>
            <a:srgbClr val="105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1783080"/>
            <a:ext cx="640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C9A44A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78040" y="1828800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Document DatasetVersion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235440" y="1737360"/>
            <a:ext cx="2468880" cy="822960"/>
          </a:xfrm>
          <a:prstGeom prst="rect">
            <a:avLst/>
          </a:prstGeom>
          <a:solidFill>
            <a:srgbClr val="105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72600" y="1783080"/>
            <a:ext cx="640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C9A44A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12680" y="1828800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Export JSON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0175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▸  Versions numérotées (v1, v2…) et horodatées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3520439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▸  Les images conservent la référence à leur version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0233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▸  Relancer train.py sur le même JSON → résultat identique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5262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▸  Historique complet des versions dans l'interface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577840"/>
            <a:ext cx="11247120" cy="54864"/>
          </a:xfrm>
          <a:prstGeom prst="rect">
            <a:avLst/>
          </a:prstGeom>
          <a:solidFill>
            <a:srgbClr val="C9A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7607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9A44A"/>
                </a:solidFill>
                <a:latin typeface="Calibri"/>
              </a:rPr>
              <a:t>Contrainte du projet respectée : versioning immuable ✓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05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Entraînement ML — train.py</a:t>
            </a:r>
          </a:p>
        </p:txBody>
      </p:sp>
      <p:pic>
        <p:nvPicPr>
          <p:cNvPr id="4" name="Picture 3" descr="ml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80160"/>
            <a:ext cx="4206240" cy="570030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0" y="137160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9A44A"/>
                </a:solidFill>
                <a:latin typeface="Calibri"/>
              </a:rPr>
              <a:t>Stratégie multi-label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1828800"/>
            <a:ext cx="62179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OneVsRestClassifier permet à une image de porter plusieurs labels :</a:t>
            </a:r>
          </a:p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   ex : fade + barbe + adulte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329184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9A44A"/>
                </a:solidFill>
                <a:latin typeface="Calibri"/>
              </a:rPr>
              <a:t>Paramètres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3749039"/>
            <a:ext cx="6217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▸  n_estimators = 100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4160520"/>
            <a:ext cx="6217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▸  test_size = 0.2 (80/20)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4572000"/>
            <a:ext cx="6217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▸  random_state = 42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0" y="5212080"/>
            <a:ext cx="6217920" cy="548640"/>
          </a:xfrm>
          <a:prstGeom prst="rect">
            <a:avLst/>
          </a:prstGeom>
          <a:solidFill>
            <a:srgbClr val="141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5303520"/>
            <a:ext cx="5852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0EE90"/>
                </a:solidFill>
                <a:latin typeface="Calibri"/>
              </a:rPr>
              <a:t>py train.py dataset-v1.json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05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Résultats &amp; qualité du dataset</a:t>
            </a:r>
          </a:p>
        </p:txBody>
      </p:sp>
      <p:pic>
        <p:nvPicPr>
          <p:cNvPr id="4" name="Picture 3" descr="labels_d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6035040" cy="376671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766560" y="1371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9A44A"/>
                </a:solidFill>
                <a:latin typeface="Calibri"/>
              </a:rPr>
              <a:t>Métriques générées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0" y="17830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▸  Accuracy exacte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0" y="21945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▸  Precision / Recall / F1 par label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26060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▸  Support par label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32004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9A44A"/>
                </a:solidFill>
                <a:latin typeface="Calibri"/>
              </a:rPr>
              <a:t>Contexte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361188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▸  Dataset prototype : 9 images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406908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▸  Performances limitées par la taille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452628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▸  Architecture scalable sans toucher au code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766560" y="5486400"/>
            <a:ext cx="5029200" cy="54864"/>
          </a:xfrm>
          <a:prstGeom prst="rect">
            <a:avLst/>
          </a:prstGeom>
          <a:solidFill>
            <a:srgbClr val="C9A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60" y="56235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9A44A"/>
                </a:solidFill>
                <a:latin typeface="Calibri"/>
              </a:rPr>
              <a:t>Plus de données → meilleur modèle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05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Recommandation client — « Ma Coupe Idéale »</a:t>
            </a:r>
          </a:p>
        </p:txBody>
      </p:sp>
      <p:pic>
        <p:nvPicPr>
          <p:cNvPr id="4" name="Picture 3" descr="reco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25880"/>
            <a:ext cx="10881360" cy="305726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9319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9A44A"/>
                </a:solidFill>
                <a:latin typeface="Calibri"/>
              </a:rPr>
              <a:t>Forme du visage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343400"/>
            <a:ext cx="5394960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▸  Ovale → polyvalent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672584"/>
            <a:ext cx="5394960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▸  Ronde → fade, taper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001768"/>
            <a:ext cx="5394960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▸  Carrée → burst-fade, dégradé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330952"/>
            <a:ext cx="5394960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▸  Cœur → dégradé, taper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660136"/>
            <a:ext cx="5394960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▸  Oblongue → volume côtés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39319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9A44A"/>
                </a:solidFill>
                <a:latin typeface="Calibri"/>
              </a:rPr>
              <a:t>Teinte de peau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4343400"/>
            <a:ext cx="530352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▸  Clair → styles lisses (fade, taper)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4727448"/>
            <a:ext cx="530352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▸  Médium → tous les styles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5111496"/>
            <a:ext cx="530352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▸  Foncé → afro, tresse, burst-fade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05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Bonnes pratiques &amp; gouvernance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325880"/>
            <a:ext cx="11430000" cy="109728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35607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9A44A"/>
                </a:solidFill>
                <a:latin typeface="Calibri"/>
              </a:rPr>
              <a:t>✓ Séparation fichiers / métadonnées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74519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AAA"/>
                </a:solidFill>
                <a:latin typeface="Calibri"/>
              </a:rPr>
              <a:t>Fichiers → disque · Métadonnées → MongoDB · migration S3/CDN possible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2606039"/>
            <a:ext cx="11430000" cy="109728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71576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9A44A"/>
                </a:solidFill>
                <a:latin typeface="Calibri"/>
              </a:rPr>
              <a:t>✓ Versioning immuable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54679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AAA"/>
                </a:solidFill>
                <a:latin typeface="Calibri"/>
              </a:rPr>
              <a:t>Snapshots non modifiables · reproductibilité · auditabilité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3886200"/>
            <a:ext cx="11430000" cy="109728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99592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9A44A"/>
                </a:solidFill>
                <a:latin typeface="Calibri"/>
              </a:rPr>
              <a:t>✓ Sécurité &amp; authentification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4348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AAA"/>
                </a:solidFill>
                <a:latin typeface="Calibri"/>
              </a:rPr>
              <a:t>JWT + OAuth2 Google · rôles client/admin · Guards NestJS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5166359"/>
            <a:ext cx="11430000" cy="109728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527608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9A44A"/>
                </a:solidFill>
                <a:latin typeface="Calibri"/>
              </a:rPr>
              <a:t>✓ Protection des données (RGPD)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714999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AAA"/>
                </a:solidFill>
                <a:latin typeface="Calibri"/>
              </a:rPr>
              <a:t>MediaPipe in-browser · aucune donnée biométrique transmise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05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Conclusion &amp; Perspectives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258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9A44A"/>
                </a:solidFill>
                <a:latin typeface="Calibri"/>
              </a:rPr>
              <a:t>Réalisé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783080"/>
            <a:ext cx="5303520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▸  Pipeline complet (5 statuts)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58568"/>
            <a:ext cx="5303520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▸  Features automatiques (sharp)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734056"/>
            <a:ext cx="5303520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▸  Versioning immuable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209544"/>
            <a:ext cx="5303520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▸  ML train.py → model.pkl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85032"/>
            <a:ext cx="5303520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▸  Visualisation &amp; supervision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160520"/>
            <a:ext cx="5303520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▸  Recommandation IA (MediaPipe)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636008"/>
            <a:ext cx="5303520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▸  Séparation fichiers / métadonnées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3258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9A44A"/>
                </a:solidFill>
                <a:latin typeface="Calibri"/>
              </a:rPr>
              <a:t>Perspectives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783080"/>
            <a:ext cx="5303520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▸  100+ images par label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258568"/>
            <a:ext cx="5303520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▸  Stockage cloud (S3, Cloudinary)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734056"/>
            <a:ext cx="5303520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▸  API REST exposant model.pkl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209544"/>
            <a:ext cx="5303520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▸  Réentraînement automatique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3685032"/>
            <a:ext cx="5303520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▸  CNN / Vision Transformer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5669280"/>
            <a:ext cx="11247120" cy="54864"/>
          </a:xfrm>
          <a:prstGeom prst="rect">
            <a:avLst/>
          </a:prstGeom>
          <a:solidFill>
            <a:srgbClr val="C9A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585216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9A44A"/>
                </a:solidFill>
                <a:latin typeface="Calibri"/>
              </a:rPr>
              <a:t>Architecture scalable : plus de données → meilleur modèle, sans modifier le code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